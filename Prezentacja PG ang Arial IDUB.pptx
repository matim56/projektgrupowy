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0"/>
  </p:notesMasterIdLst>
  <p:handoutMasterIdLst>
    <p:handoutMasterId r:id="rId21"/>
  </p:handoutMasterIdLst>
  <p:sldIdLst>
    <p:sldId id="282" r:id="rId2"/>
    <p:sldId id="292" r:id="rId3"/>
    <p:sldId id="278" r:id="rId4"/>
    <p:sldId id="283" r:id="rId5"/>
    <p:sldId id="285" r:id="rId6"/>
    <p:sldId id="284" r:id="rId7"/>
    <p:sldId id="293" r:id="rId8"/>
    <p:sldId id="289" r:id="rId9"/>
    <p:sldId id="286" r:id="rId10"/>
    <p:sldId id="294" r:id="rId11"/>
    <p:sldId id="287" r:id="rId12"/>
    <p:sldId id="288" r:id="rId13"/>
    <p:sldId id="296" r:id="rId14"/>
    <p:sldId id="297" r:id="rId15"/>
    <p:sldId id="298" r:id="rId16"/>
    <p:sldId id="291" r:id="rId17"/>
    <p:sldId id="290" r:id="rId18"/>
    <p:sldId id="277" r:id="rId19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7"/>
    <a:srgbClr val="C8CBCE"/>
    <a:srgbClr val="E31B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 pośredni 2 — Ak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60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241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Seria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Arkusz1!$A$2:$A$5</c:f>
              <c:strCache>
                <c:ptCount val="4"/>
                <c:pt idx="0">
                  <c:v>Kategoria 1</c:v>
                </c:pt>
                <c:pt idx="1">
                  <c:v>Kategoria 2</c:v>
                </c:pt>
                <c:pt idx="2">
                  <c:v>Kategoria 3</c:v>
                </c:pt>
                <c:pt idx="3">
                  <c:v>Kategoria 4</c:v>
                </c:pt>
              </c:strCache>
            </c:strRef>
          </c:cat>
          <c:val>
            <c:numRef>
              <c:f>Arkusz1!$B$2:$B$5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F0-412E-904C-DC64B001B7BE}"/>
            </c:ext>
          </c:extLst>
        </c:ser>
        <c:ser>
          <c:idx val="1"/>
          <c:order val="1"/>
          <c:tx>
            <c:strRef>
              <c:f>Arkusz1!$C$1</c:f>
              <c:strCache>
                <c:ptCount val="1"/>
                <c:pt idx="0">
                  <c:v>Seria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Arkusz1!$A$2:$A$5</c:f>
              <c:strCache>
                <c:ptCount val="4"/>
                <c:pt idx="0">
                  <c:v>Kategoria 1</c:v>
                </c:pt>
                <c:pt idx="1">
                  <c:v>Kategoria 2</c:v>
                </c:pt>
                <c:pt idx="2">
                  <c:v>Kategoria 3</c:v>
                </c:pt>
                <c:pt idx="3">
                  <c:v>Kategoria 4</c:v>
                </c:pt>
              </c:strCache>
            </c:strRef>
          </c:cat>
          <c:val>
            <c:numRef>
              <c:f>Arkusz1!$C$2:$C$5</c:f>
              <c:numCache>
                <c:formatCode>General</c:formatCode>
                <c:ptCount val="4"/>
                <c:pt idx="0">
                  <c:v>2.4</c:v>
                </c:pt>
                <c:pt idx="1">
                  <c:v>8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F0-412E-904C-DC64B001B7BE}"/>
            </c:ext>
          </c:extLst>
        </c:ser>
        <c:ser>
          <c:idx val="2"/>
          <c:order val="2"/>
          <c:tx>
            <c:strRef>
              <c:f>Arkusz1!$D$1</c:f>
              <c:strCache>
                <c:ptCount val="1"/>
                <c:pt idx="0">
                  <c:v>Seria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Arkusz1!$A$2:$A$5</c:f>
              <c:strCache>
                <c:ptCount val="4"/>
                <c:pt idx="0">
                  <c:v>Kategoria 1</c:v>
                </c:pt>
                <c:pt idx="1">
                  <c:v>Kategoria 2</c:v>
                </c:pt>
                <c:pt idx="2">
                  <c:v>Kategoria 3</c:v>
                </c:pt>
                <c:pt idx="3">
                  <c:v>Kategoria 4</c:v>
                </c:pt>
              </c:strCache>
            </c:strRef>
          </c:cat>
          <c:val>
            <c:numRef>
              <c:f>Arkusz1!$D$2:$D$5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F0-412E-904C-DC64B001B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02589552"/>
        <c:axId val="602586024"/>
      </c:barChart>
      <c:catAx>
        <c:axId val="6025895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pl-PL" sz="900" b="0" i="0" u="none" strike="noStrike" kern="1200" baseline="0">
                <a:solidFill>
                  <a:srgbClr val="003767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pl-PL"/>
          </a:p>
        </c:txPr>
        <c:crossAx val="602586024"/>
        <c:crosses val="autoZero"/>
        <c:auto val="1"/>
        <c:lblAlgn val="ctr"/>
        <c:lblOffset val="100"/>
        <c:noMultiLvlLbl val="0"/>
      </c:catAx>
      <c:valAx>
        <c:axId val="6025860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pl-PL" sz="900" b="0" i="0" u="none" strike="noStrike" kern="1200" baseline="0">
                <a:solidFill>
                  <a:srgbClr val="003767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pl-PL"/>
          </a:p>
        </c:txPr>
        <c:crossAx val="6025895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pl-PL" sz="900" b="0" i="0" u="none" strike="noStrike" kern="1200" baseline="0">
              <a:solidFill>
                <a:srgbClr val="003767"/>
              </a:solidFill>
              <a:latin typeface="Arial" panose="020B0604020202020204" pitchFamily="34" charset="0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pl-PL" sz="900" baseline="0">
          <a:solidFill>
            <a:srgbClr val="003767"/>
          </a:solidFill>
          <a:latin typeface="Arial" panose="020B0604020202020204" pitchFamily="34" charset="0"/>
        </a:defRPr>
      </a:pPr>
      <a:endParaRPr lang="pl-PL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Arkusz1!$B$1</c:f>
              <c:strCache>
                <c:ptCount val="1"/>
                <c:pt idx="0">
                  <c:v>Sprzedaż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512-4407-BBB2-5F01B27DF37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512-4407-BBB2-5F01B27DF37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512-4407-BBB2-5F01B27DF372}"/>
              </c:ext>
            </c:extLst>
          </c:dPt>
          <c:dPt>
            <c:idx val="3"/>
            <c:bubble3D val="0"/>
            <c:spPr>
              <a:solidFill>
                <a:schemeClr val="tx1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512-4407-BBB2-5F01B27DF372}"/>
              </c:ext>
            </c:extLst>
          </c:dPt>
          <c:cat>
            <c:strRef>
              <c:f>Arkusz1!$A$2:$A$5</c:f>
              <c:strCache>
                <c:ptCount val="4"/>
                <c:pt idx="0">
                  <c:v>1. kwartał</c:v>
                </c:pt>
                <c:pt idx="1">
                  <c:v>2. kwartał</c:v>
                </c:pt>
                <c:pt idx="2">
                  <c:v>3. kwartał</c:v>
                </c:pt>
                <c:pt idx="3">
                  <c:v>4. kwartał</c:v>
                </c:pt>
              </c:strCache>
            </c:strRef>
          </c:cat>
          <c:val>
            <c:numRef>
              <c:f>Arkusz1!$B$2:$B$5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512-4407-BBB2-5F01B27DF3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3767"/>
              </a:solidFill>
              <a:latin typeface="Arial" panose="020B0604020202020204" pitchFamily="34" charset="0"/>
              <a:ea typeface="+mn-ea"/>
              <a:cs typeface="+mn-cs"/>
            </a:defRPr>
          </a:pPr>
          <a:endParaRPr lang="pl-PL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C9209-3986-4F4F-9798-10F567A8CCA9}" type="datetimeFigureOut">
              <a:rPr lang="pl-PL" smtClean="0"/>
              <a:pPr/>
              <a:t>23.01.2026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69ED95-A86B-4031-854D-4CD9141382AC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24027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A77C91-10B1-43B2-BE9C-19E168F96446}" type="datetimeFigureOut">
              <a:rPr lang="pl-PL" smtClean="0"/>
              <a:pPr/>
              <a:t>23.01.2026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FD56A-32A1-4D9A-BC80-736493FF959D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686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Excel_Worksheet2.xlsx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jpe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bg>
      <p:bgPr>
        <a:solidFill>
          <a:srgbClr val="0037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701"/>
          <a:stretch>
            <a:fillRect/>
          </a:stretch>
        </p:blipFill>
        <p:spPr bwMode="auto">
          <a:xfrm>
            <a:off x="1261876" y="252237"/>
            <a:ext cx="6637337" cy="315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ytuł 1"/>
          <p:cNvSpPr>
            <a:spLocks noGrp="1"/>
          </p:cNvSpPr>
          <p:nvPr>
            <p:ph type="title"/>
          </p:nvPr>
        </p:nvSpPr>
        <p:spPr>
          <a:xfrm>
            <a:off x="1454400" y="4406900"/>
            <a:ext cx="6278400" cy="1362075"/>
          </a:xfrm>
        </p:spPr>
        <p:txBody>
          <a:bodyPr anchor="t">
            <a:normAutofit/>
          </a:bodyPr>
          <a:lstStyle>
            <a:lvl1pPr algn="ctr">
              <a:defRPr sz="2600" b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9" name="Symbol zastępczy tekstu 8"/>
          <p:cNvSpPr>
            <a:spLocks noGrp="1"/>
          </p:cNvSpPr>
          <p:nvPr>
            <p:ph type="body" sz="quarter" idx="10"/>
          </p:nvPr>
        </p:nvSpPr>
        <p:spPr>
          <a:xfrm>
            <a:off x="1454401" y="5615473"/>
            <a:ext cx="6278400" cy="355478"/>
          </a:xfrm>
        </p:spPr>
        <p:txBody>
          <a:bodyPr>
            <a:normAutofit/>
          </a:bodyPr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3217226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 dirty="0"/>
          </a:p>
        </p:txBody>
      </p:sp>
      <p:pic>
        <p:nvPicPr>
          <p:cNvPr id="7" name="Obraz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215" y="517294"/>
            <a:ext cx="983457" cy="510077"/>
          </a:xfrm>
          <a:prstGeom prst="rect">
            <a:avLst/>
          </a:prstGeom>
        </p:spPr>
      </p:pic>
      <p:pic>
        <p:nvPicPr>
          <p:cNvPr id="4" name="Obraz 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11" name="Łącznik prosty 10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729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817298"/>
            <a:ext cx="6858000" cy="1655762"/>
          </a:xfrm>
        </p:spPr>
        <p:txBody>
          <a:bodyPr>
            <a:normAutofit/>
          </a:bodyPr>
          <a:lstStyle>
            <a:lvl1pPr marL="285750" indent="-285750" algn="l">
              <a:buClr>
                <a:srgbClr val="E31B23"/>
              </a:buClr>
              <a:buFont typeface="Wingdings" panose="05000000000000000000" pitchFamily="2" charset="2"/>
              <a:buChar char="§"/>
              <a:defRPr sz="16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 dirty="0"/>
              <a:t>Kliknij, aby edytować styl wzorca tekstu</a:t>
            </a:r>
          </a:p>
        </p:txBody>
      </p:sp>
      <p:sp>
        <p:nvSpPr>
          <p:cNvPr id="5" name="Tytuł 1"/>
          <p:cNvSpPr txBox="1">
            <a:spLocks/>
          </p:cNvSpPr>
          <p:nvPr userDrawn="1"/>
        </p:nvSpPr>
        <p:spPr>
          <a:xfrm>
            <a:off x="0" y="1431395"/>
            <a:ext cx="9144000" cy="794956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252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1800" dirty="0">
              <a:solidFill>
                <a:schemeClr val="bg1"/>
              </a:solidFill>
            </a:endParaRPr>
          </a:p>
        </p:txBody>
      </p:sp>
      <p:sp>
        <p:nvSpPr>
          <p:cNvPr id="6" name="Symbol zastępczy tekstu 5"/>
          <p:cNvSpPr>
            <a:spLocks noGrp="1"/>
          </p:cNvSpPr>
          <p:nvPr>
            <p:ph type="body" sz="quarter" idx="10"/>
          </p:nvPr>
        </p:nvSpPr>
        <p:spPr>
          <a:xfrm>
            <a:off x="523021" y="1687760"/>
            <a:ext cx="4189412" cy="406715"/>
          </a:xfrm>
        </p:spPr>
        <p:txBody>
          <a:bodyPr>
            <a:normAutofit/>
          </a:bodyPr>
          <a:lstStyle>
            <a:lvl1pPr marL="0" indent="0">
              <a:buNone/>
              <a:def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 dirty="0"/>
              <a:t>Kliknij, aby edytować style</a:t>
            </a:r>
          </a:p>
        </p:txBody>
      </p:sp>
      <p:pic>
        <p:nvPicPr>
          <p:cNvPr id="4" name="Obraz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11" name="Łącznik prosty 10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128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Wykres 27"/>
          <p:cNvGraphicFramePr/>
          <p:nvPr userDrawn="1">
            <p:extLst>
              <p:ext uri="{D42A27DB-BD31-4B8C-83A1-F6EECF244321}">
                <p14:modId xmlns:p14="http://schemas.microsoft.com/office/powerpoint/2010/main" val="4085736609"/>
              </p:ext>
            </p:extLst>
          </p:nvPr>
        </p:nvGraphicFramePr>
        <p:xfrm>
          <a:off x="772824" y="2534934"/>
          <a:ext cx="7674489" cy="34736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ytuł 1"/>
          <p:cNvSpPr txBox="1">
            <a:spLocks/>
          </p:cNvSpPr>
          <p:nvPr userDrawn="1"/>
        </p:nvSpPr>
        <p:spPr>
          <a:xfrm>
            <a:off x="0" y="1439141"/>
            <a:ext cx="5290457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Kliknij, aby edytować styl</a:t>
            </a:r>
          </a:p>
        </p:txBody>
      </p:sp>
      <p:pic>
        <p:nvPicPr>
          <p:cNvPr id="11" name="Obraz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13" name="Łącznik prosty 12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7905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/>
          <p:cNvSpPr txBox="1">
            <a:spLocks/>
          </p:cNvSpPr>
          <p:nvPr userDrawn="1"/>
        </p:nvSpPr>
        <p:spPr>
          <a:xfrm>
            <a:off x="0" y="1439141"/>
            <a:ext cx="5290457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1800" dirty="0">
              <a:solidFill>
                <a:schemeClr val="bg1"/>
              </a:solidFill>
            </a:endParaRPr>
          </a:p>
        </p:txBody>
      </p:sp>
      <p:graphicFrame>
        <p:nvGraphicFramePr>
          <p:cNvPr id="5" name="Wykres 4"/>
          <p:cNvGraphicFramePr/>
          <p:nvPr userDrawn="1">
            <p:extLst>
              <p:ext uri="{D42A27DB-BD31-4B8C-83A1-F6EECF244321}">
                <p14:modId xmlns:p14="http://schemas.microsoft.com/office/powerpoint/2010/main" val="173845463"/>
              </p:ext>
            </p:extLst>
          </p:nvPr>
        </p:nvGraphicFramePr>
        <p:xfrm>
          <a:off x="475666" y="2606400"/>
          <a:ext cx="4449600" cy="296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ymbol zastępczy wykresu 2"/>
          <p:cNvSpPr>
            <a:spLocks noGrp="1"/>
          </p:cNvSpPr>
          <p:nvPr>
            <p:ph type="chart" sz="quarter" idx="10"/>
          </p:nvPr>
        </p:nvSpPr>
        <p:spPr>
          <a:xfrm>
            <a:off x="5435600" y="2254250"/>
            <a:ext cx="3514725" cy="305911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 dirty="0"/>
          </a:p>
        </p:txBody>
      </p:sp>
      <p:sp>
        <p:nvSpPr>
          <p:cNvPr id="9" name="Symbol zastępczy tekstu 5"/>
          <p:cNvSpPr>
            <a:spLocks noGrp="1"/>
          </p:cNvSpPr>
          <p:nvPr>
            <p:ph type="body" sz="quarter" idx="11"/>
          </p:nvPr>
        </p:nvSpPr>
        <p:spPr>
          <a:xfrm>
            <a:off x="523021" y="1476742"/>
            <a:ext cx="4189412" cy="406715"/>
          </a:xfrm>
        </p:spPr>
        <p:txBody>
          <a:bodyPr>
            <a:normAutofit/>
          </a:bodyPr>
          <a:lstStyle>
            <a:lvl1pPr marL="0" indent="0">
              <a:buNone/>
              <a:def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 dirty="0"/>
              <a:t>Kliknij, aby edytować style</a:t>
            </a:r>
          </a:p>
        </p:txBody>
      </p:sp>
      <p:pic>
        <p:nvPicPr>
          <p:cNvPr id="12" name="Obraz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16" name="Łącznik prosty 15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99841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/>
          <p:cNvSpPr txBox="1">
            <a:spLocks/>
          </p:cNvSpPr>
          <p:nvPr userDrawn="1"/>
        </p:nvSpPr>
        <p:spPr>
          <a:xfrm>
            <a:off x="0" y="1439141"/>
            <a:ext cx="5290457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1800" dirty="0">
              <a:solidFill>
                <a:schemeClr val="bg1"/>
              </a:solidFill>
            </a:endParaRPr>
          </a:p>
        </p:txBody>
      </p:sp>
      <p:sp>
        <p:nvSpPr>
          <p:cNvPr id="3" name="Symbol zastępczy wykresu 2"/>
          <p:cNvSpPr>
            <a:spLocks noGrp="1"/>
          </p:cNvSpPr>
          <p:nvPr>
            <p:ph type="chart" sz="quarter" idx="10"/>
          </p:nvPr>
        </p:nvSpPr>
        <p:spPr>
          <a:xfrm>
            <a:off x="887865" y="2704770"/>
            <a:ext cx="3514725" cy="305911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 dirty="0"/>
          </a:p>
        </p:txBody>
      </p:sp>
      <p:sp>
        <p:nvSpPr>
          <p:cNvPr id="9" name="Symbol zastępczy tekstu 5"/>
          <p:cNvSpPr>
            <a:spLocks noGrp="1"/>
          </p:cNvSpPr>
          <p:nvPr>
            <p:ph type="body" sz="quarter" idx="11"/>
          </p:nvPr>
        </p:nvSpPr>
        <p:spPr>
          <a:xfrm>
            <a:off x="523021" y="1476742"/>
            <a:ext cx="4189412" cy="406715"/>
          </a:xfrm>
        </p:spPr>
        <p:txBody>
          <a:bodyPr>
            <a:normAutofit/>
          </a:bodyPr>
          <a:lstStyle>
            <a:lvl1pPr marL="0" indent="0">
              <a:buNone/>
              <a:def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 dirty="0"/>
              <a:t>Kliknij, aby edytować style</a:t>
            </a:r>
          </a:p>
        </p:txBody>
      </p:sp>
      <p:pic>
        <p:nvPicPr>
          <p:cNvPr id="12" name="Obraz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15" name="Łącznik prosty 14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33818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iekt 6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323268196"/>
              </p:ext>
            </p:extLst>
          </p:nvPr>
        </p:nvGraphicFramePr>
        <p:xfrm>
          <a:off x="841375" y="2517775"/>
          <a:ext cx="4719638" cy="201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rkusz" r:id="rId2" imgW="3057635" imgH="1304857" progId="Excel.Sheet.12">
                  <p:embed/>
                </p:oleObj>
              </mc:Choice>
              <mc:Fallback>
                <p:oleObj name="Arkusz" r:id="rId2" imgW="3057635" imgH="1304857" progId="Excel.Sheet.12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375" y="2517775"/>
                        <a:ext cx="4719638" cy="2012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003767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ytuł 1"/>
          <p:cNvSpPr txBox="1">
            <a:spLocks/>
          </p:cNvSpPr>
          <p:nvPr userDrawn="1"/>
        </p:nvSpPr>
        <p:spPr>
          <a:xfrm>
            <a:off x="0" y="1439141"/>
            <a:ext cx="5290457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Kliknij, aby edytować styl</a:t>
            </a:r>
          </a:p>
        </p:txBody>
      </p:sp>
      <p:pic>
        <p:nvPicPr>
          <p:cNvPr id="14" name="Obraz 13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950720" cy="493819"/>
          </a:xfrm>
          <a:prstGeom prst="rect">
            <a:avLst/>
          </a:prstGeom>
        </p:spPr>
      </p:pic>
      <p:pic>
        <p:nvPicPr>
          <p:cNvPr id="11" name="Obraz 10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16" name="Łącznik prosty 15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68174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/>
          <p:cNvSpPr txBox="1">
            <a:spLocks/>
          </p:cNvSpPr>
          <p:nvPr userDrawn="1"/>
        </p:nvSpPr>
        <p:spPr>
          <a:xfrm>
            <a:off x="0" y="1439141"/>
            <a:ext cx="5290457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1800" dirty="0">
              <a:solidFill>
                <a:schemeClr val="bg1"/>
              </a:solidFill>
            </a:endParaRPr>
          </a:p>
        </p:txBody>
      </p:sp>
      <p:sp>
        <p:nvSpPr>
          <p:cNvPr id="9" name="Symbol zastępczy tekstu 5"/>
          <p:cNvSpPr>
            <a:spLocks noGrp="1"/>
          </p:cNvSpPr>
          <p:nvPr>
            <p:ph type="body" sz="quarter" idx="11"/>
          </p:nvPr>
        </p:nvSpPr>
        <p:spPr>
          <a:xfrm>
            <a:off x="523021" y="1476742"/>
            <a:ext cx="4189412" cy="406715"/>
          </a:xfrm>
        </p:spPr>
        <p:txBody>
          <a:bodyPr>
            <a:normAutofit/>
          </a:bodyPr>
          <a:lstStyle>
            <a:lvl1pPr marL="0" indent="0">
              <a:buNone/>
              <a:def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 dirty="0"/>
              <a:t>Kliknij, aby edytować style</a:t>
            </a:r>
          </a:p>
        </p:txBody>
      </p:sp>
      <p:sp>
        <p:nvSpPr>
          <p:cNvPr id="4" name="Symbol zastępczy tabeli 3"/>
          <p:cNvSpPr>
            <a:spLocks noGrp="1"/>
          </p:cNvSpPr>
          <p:nvPr>
            <p:ph type="tbl" sz="quarter" idx="12"/>
          </p:nvPr>
        </p:nvSpPr>
        <p:spPr>
          <a:xfrm>
            <a:off x="523021" y="2368428"/>
            <a:ext cx="4602163" cy="3890962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 dirty="0"/>
          </a:p>
        </p:txBody>
      </p:sp>
      <p:pic>
        <p:nvPicPr>
          <p:cNvPr id="12" name="Obraz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15" name="Łącznik prosty 14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55474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1452900" y="2032438"/>
            <a:ext cx="6858000" cy="1655762"/>
          </a:xfrm>
        </p:spPr>
        <p:txBody>
          <a:bodyPr>
            <a:normAutofit/>
          </a:bodyPr>
          <a:lstStyle>
            <a:lvl1pPr marL="285750" indent="-285750" algn="l">
              <a:buClr>
                <a:srgbClr val="E31B23"/>
              </a:buClr>
              <a:buFont typeface="Wingdings" panose="05000000000000000000" pitchFamily="2" charset="2"/>
              <a:buChar char="§"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 dirty="0"/>
              <a:t>Kliknij, aby edytować styl wzorca tekstu</a:t>
            </a:r>
          </a:p>
        </p:txBody>
      </p:sp>
      <p:sp>
        <p:nvSpPr>
          <p:cNvPr id="2" name="Prostokąt 1"/>
          <p:cNvSpPr/>
          <p:nvPr userDrawn="1"/>
        </p:nvSpPr>
        <p:spPr>
          <a:xfrm>
            <a:off x="0" y="4612935"/>
            <a:ext cx="2959200" cy="225107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rostokąt 12"/>
          <p:cNvSpPr/>
          <p:nvPr userDrawn="1"/>
        </p:nvSpPr>
        <p:spPr>
          <a:xfrm>
            <a:off x="2959200" y="4612935"/>
            <a:ext cx="3254400" cy="224620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rostokąt 13"/>
          <p:cNvSpPr/>
          <p:nvPr userDrawn="1"/>
        </p:nvSpPr>
        <p:spPr>
          <a:xfrm>
            <a:off x="6213600" y="4615266"/>
            <a:ext cx="2920390" cy="224620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Tytuł 1"/>
          <p:cNvSpPr txBox="1">
            <a:spLocks/>
          </p:cNvSpPr>
          <p:nvPr userDrawn="1"/>
        </p:nvSpPr>
        <p:spPr>
          <a:xfrm>
            <a:off x="714013" y="5548002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sp>
        <p:nvSpPr>
          <p:cNvPr id="16" name="Tytuł 1"/>
          <p:cNvSpPr txBox="1">
            <a:spLocks/>
          </p:cNvSpPr>
          <p:nvPr userDrawn="1"/>
        </p:nvSpPr>
        <p:spPr>
          <a:xfrm>
            <a:off x="3968413" y="5548002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sp>
        <p:nvSpPr>
          <p:cNvPr id="17" name="Tytuł 1"/>
          <p:cNvSpPr txBox="1">
            <a:spLocks/>
          </p:cNvSpPr>
          <p:nvPr userDrawn="1"/>
        </p:nvSpPr>
        <p:spPr>
          <a:xfrm>
            <a:off x="7105812" y="5548002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pic>
        <p:nvPicPr>
          <p:cNvPr id="22" name="Obraz 2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24" name="Łącznik prosty 23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547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3298824" y="1630249"/>
            <a:ext cx="5012075" cy="2057951"/>
          </a:xfrm>
        </p:spPr>
        <p:txBody>
          <a:bodyPr>
            <a:normAutofit/>
          </a:bodyPr>
          <a:lstStyle>
            <a:lvl1pPr marL="285750" indent="-285750" algn="l">
              <a:buClr>
                <a:srgbClr val="E31B23"/>
              </a:buClr>
              <a:buFont typeface="Wingdings" panose="05000000000000000000" pitchFamily="2" charset="2"/>
              <a:buChar char="§"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 dirty="0"/>
              <a:t>Kliknij, aby edytować styl wzorca tekstu</a:t>
            </a:r>
          </a:p>
        </p:txBody>
      </p:sp>
      <p:sp>
        <p:nvSpPr>
          <p:cNvPr id="2" name="Prostokąt 1"/>
          <p:cNvSpPr/>
          <p:nvPr userDrawn="1"/>
        </p:nvSpPr>
        <p:spPr>
          <a:xfrm>
            <a:off x="0" y="4310743"/>
            <a:ext cx="2959200" cy="255326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rostokąt 12"/>
          <p:cNvSpPr/>
          <p:nvPr userDrawn="1"/>
        </p:nvSpPr>
        <p:spPr>
          <a:xfrm>
            <a:off x="0" y="1630249"/>
            <a:ext cx="2959200" cy="268049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Tytuł 1"/>
          <p:cNvSpPr txBox="1">
            <a:spLocks/>
          </p:cNvSpPr>
          <p:nvPr userDrawn="1"/>
        </p:nvSpPr>
        <p:spPr>
          <a:xfrm>
            <a:off x="714013" y="5548002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sp>
        <p:nvSpPr>
          <p:cNvPr id="16" name="Tytuł 1"/>
          <p:cNvSpPr txBox="1">
            <a:spLocks/>
          </p:cNvSpPr>
          <p:nvPr userDrawn="1"/>
        </p:nvSpPr>
        <p:spPr>
          <a:xfrm>
            <a:off x="714013" y="2714175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pic>
        <p:nvPicPr>
          <p:cNvPr id="18" name="Obraz 1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20" name="Łącznik prosty 19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16443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747486" y="2618438"/>
            <a:ext cx="4486914" cy="1655762"/>
          </a:xfrm>
        </p:spPr>
        <p:txBody>
          <a:bodyPr>
            <a:normAutofit/>
          </a:bodyPr>
          <a:lstStyle>
            <a:lvl1pPr marL="285750" indent="-285750" algn="l">
              <a:buClr>
                <a:srgbClr val="E31B23"/>
              </a:buClr>
              <a:buFont typeface="Wingdings" panose="05000000000000000000" pitchFamily="2" charset="2"/>
              <a:buChar char="§"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 dirty="0"/>
              <a:t>Kliknij, aby edytować styl wzorca tekstu</a:t>
            </a:r>
          </a:p>
        </p:txBody>
      </p:sp>
      <p:sp>
        <p:nvSpPr>
          <p:cNvPr id="2" name="Prostokąt 1"/>
          <p:cNvSpPr/>
          <p:nvPr userDrawn="1"/>
        </p:nvSpPr>
        <p:spPr>
          <a:xfrm>
            <a:off x="5457370" y="1490510"/>
            <a:ext cx="3686629" cy="263509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rostokąt 13"/>
          <p:cNvSpPr/>
          <p:nvPr userDrawn="1"/>
        </p:nvSpPr>
        <p:spPr>
          <a:xfrm>
            <a:off x="5457370" y="4125600"/>
            <a:ext cx="3676620" cy="273587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Tytuł 1"/>
          <p:cNvSpPr txBox="1">
            <a:spLocks/>
          </p:cNvSpPr>
          <p:nvPr userDrawn="1"/>
        </p:nvSpPr>
        <p:spPr>
          <a:xfrm>
            <a:off x="6682696" y="2578682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sp>
        <p:nvSpPr>
          <p:cNvPr id="17" name="Tytuł 1"/>
          <p:cNvSpPr txBox="1">
            <a:spLocks/>
          </p:cNvSpPr>
          <p:nvPr userDrawn="1"/>
        </p:nvSpPr>
        <p:spPr>
          <a:xfrm>
            <a:off x="6677692" y="5337141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sp>
        <p:nvSpPr>
          <p:cNvPr id="21" name="Tytuł 1"/>
          <p:cNvSpPr txBox="1">
            <a:spLocks/>
          </p:cNvSpPr>
          <p:nvPr userDrawn="1"/>
        </p:nvSpPr>
        <p:spPr>
          <a:xfrm>
            <a:off x="0" y="1490510"/>
            <a:ext cx="5457369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Kliknij, aby edytować styl</a:t>
            </a:r>
          </a:p>
        </p:txBody>
      </p:sp>
      <p:pic>
        <p:nvPicPr>
          <p:cNvPr id="19" name="Obraz 1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22" name="Łącznik prosty 21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57733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747486" y="2618438"/>
            <a:ext cx="4486914" cy="1655762"/>
          </a:xfrm>
        </p:spPr>
        <p:txBody>
          <a:bodyPr>
            <a:normAutofit/>
          </a:bodyPr>
          <a:lstStyle>
            <a:lvl1pPr marL="285750" indent="-285750" algn="l">
              <a:buClr>
                <a:srgbClr val="E31B23"/>
              </a:buClr>
              <a:buFont typeface="Wingdings" panose="05000000000000000000" pitchFamily="2" charset="2"/>
              <a:buChar char="§"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 dirty="0"/>
              <a:t>Kliknij, aby edytować styl wzorca tekstu</a:t>
            </a:r>
          </a:p>
        </p:txBody>
      </p:sp>
      <p:sp>
        <p:nvSpPr>
          <p:cNvPr id="17" name="Tytuł 1"/>
          <p:cNvSpPr txBox="1">
            <a:spLocks/>
          </p:cNvSpPr>
          <p:nvPr userDrawn="1"/>
        </p:nvSpPr>
        <p:spPr>
          <a:xfrm>
            <a:off x="6677692" y="5337141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 dirty="0">
                <a:latin typeface="+mn-lt"/>
              </a:rPr>
              <a:t>foto</a:t>
            </a:r>
          </a:p>
        </p:txBody>
      </p:sp>
      <p:sp>
        <p:nvSpPr>
          <p:cNvPr id="10" name="Tytuł 1"/>
          <p:cNvSpPr txBox="1">
            <a:spLocks/>
          </p:cNvSpPr>
          <p:nvPr userDrawn="1"/>
        </p:nvSpPr>
        <p:spPr>
          <a:xfrm>
            <a:off x="0" y="1439141"/>
            <a:ext cx="5290457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1800" dirty="0">
              <a:solidFill>
                <a:schemeClr val="bg1"/>
              </a:solidFill>
            </a:endParaRPr>
          </a:p>
        </p:txBody>
      </p:sp>
      <p:sp>
        <p:nvSpPr>
          <p:cNvPr id="11" name="Symbol zastępczy tekstu 5"/>
          <p:cNvSpPr>
            <a:spLocks noGrp="1"/>
          </p:cNvSpPr>
          <p:nvPr>
            <p:ph type="body" sz="quarter" idx="11"/>
          </p:nvPr>
        </p:nvSpPr>
        <p:spPr>
          <a:xfrm>
            <a:off x="523021" y="1476742"/>
            <a:ext cx="4189412" cy="406715"/>
          </a:xfrm>
        </p:spPr>
        <p:txBody>
          <a:bodyPr>
            <a:normAutofit/>
          </a:bodyPr>
          <a:lstStyle>
            <a:lvl1pPr marL="0" indent="0">
              <a:buNone/>
              <a:def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 dirty="0"/>
              <a:t>Kliknij, aby edytować style</a:t>
            </a:r>
          </a:p>
        </p:txBody>
      </p:sp>
      <p:sp>
        <p:nvSpPr>
          <p:cNvPr id="4" name="Symbol zastępczy obrazu online 3"/>
          <p:cNvSpPr>
            <a:spLocks noGrp="1"/>
          </p:cNvSpPr>
          <p:nvPr>
            <p:ph type="clipArt" sz="quarter" idx="12"/>
          </p:nvPr>
        </p:nvSpPr>
        <p:spPr>
          <a:xfrm>
            <a:off x="5427256" y="1439863"/>
            <a:ext cx="3716743" cy="2616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 dirty="0"/>
          </a:p>
        </p:txBody>
      </p:sp>
      <p:sp>
        <p:nvSpPr>
          <p:cNvPr id="16" name="Symbol zastępczy obrazu online 3"/>
          <p:cNvSpPr>
            <a:spLocks noGrp="1"/>
          </p:cNvSpPr>
          <p:nvPr>
            <p:ph type="clipArt" sz="quarter" idx="13"/>
          </p:nvPr>
        </p:nvSpPr>
        <p:spPr>
          <a:xfrm>
            <a:off x="5412703" y="4134338"/>
            <a:ext cx="3716743" cy="271236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 dirty="0"/>
          </a:p>
        </p:txBody>
      </p:sp>
      <p:pic>
        <p:nvPicPr>
          <p:cNvPr id="19" name="Obraz 1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21" name="Łącznik prosty 20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73900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aokrąglony prostokąt 12"/>
          <p:cNvSpPr/>
          <p:nvPr/>
        </p:nvSpPr>
        <p:spPr>
          <a:xfrm>
            <a:off x="1553262" y="4163012"/>
            <a:ext cx="6214358" cy="974838"/>
          </a:xfrm>
          <a:prstGeom prst="roundRect">
            <a:avLst/>
          </a:prstGeom>
          <a:solidFill>
            <a:srgbClr val="003767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pl-PL"/>
          </a:p>
        </p:txBody>
      </p:sp>
      <p:sp>
        <p:nvSpPr>
          <p:cNvPr id="17" name="Zaokrąglony prostokąt 15"/>
          <p:cNvSpPr/>
          <p:nvPr/>
        </p:nvSpPr>
        <p:spPr>
          <a:xfrm>
            <a:off x="1542952" y="2281288"/>
            <a:ext cx="6214358" cy="861477"/>
          </a:xfrm>
          <a:prstGeom prst="roundRect">
            <a:avLst/>
          </a:prstGeom>
          <a:solidFill>
            <a:srgbClr val="003767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pl-PL"/>
          </a:p>
        </p:txBody>
      </p:sp>
      <p:sp>
        <p:nvSpPr>
          <p:cNvPr id="20" name="Zaokrąglony prostokąt 18"/>
          <p:cNvSpPr/>
          <p:nvPr/>
        </p:nvSpPr>
        <p:spPr>
          <a:xfrm>
            <a:off x="1548472" y="3239588"/>
            <a:ext cx="6214358" cy="814387"/>
          </a:xfrm>
          <a:prstGeom prst="roundRect">
            <a:avLst/>
          </a:prstGeom>
          <a:solidFill>
            <a:srgbClr val="003767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pl-PL"/>
          </a:p>
        </p:txBody>
      </p:sp>
      <p:sp>
        <p:nvSpPr>
          <p:cNvPr id="23" name="Zaokrąglony prostokąt 21"/>
          <p:cNvSpPr/>
          <p:nvPr/>
        </p:nvSpPr>
        <p:spPr>
          <a:xfrm>
            <a:off x="1542952" y="1301624"/>
            <a:ext cx="6214358" cy="875428"/>
          </a:xfrm>
          <a:prstGeom prst="roundRect">
            <a:avLst/>
          </a:prstGeom>
          <a:solidFill>
            <a:srgbClr val="003767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pl-PL"/>
          </a:p>
        </p:txBody>
      </p:sp>
      <p:sp>
        <p:nvSpPr>
          <p:cNvPr id="26" name="Zaokrąglony prostokąt 24"/>
          <p:cNvSpPr/>
          <p:nvPr userDrawn="1"/>
        </p:nvSpPr>
        <p:spPr>
          <a:xfrm>
            <a:off x="1540562" y="5250193"/>
            <a:ext cx="6214358" cy="875428"/>
          </a:xfrm>
          <a:prstGeom prst="roundRect">
            <a:avLst/>
          </a:prstGeom>
          <a:solidFill>
            <a:srgbClr val="003767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sz="quarter" idx="10"/>
          </p:nvPr>
        </p:nvSpPr>
        <p:spPr>
          <a:xfrm>
            <a:off x="1836126" y="1579564"/>
            <a:ext cx="4916488" cy="4619625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0"/>
            <a:endParaRPr lang="pl-PL" dirty="0"/>
          </a:p>
          <a:p>
            <a:pPr lvl="0"/>
            <a:endParaRPr lang="pl-PL" dirty="0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l-PL" dirty="0"/>
              <a:t>Kliknij, aby edytować style wzorca tekstu</a:t>
            </a:r>
          </a:p>
          <a:p>
            <a:pPr lvl="0"/>
            <a:endParaRPr lang="pl-PL" dirty="0"/>
          </a:p>
          <a:p>
            <a:pPr lvl="0"/>
            <a:endParaRPr lang="pl-PL" dirty="0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l-PL" dirty="0"/>
              <a:t>Kliknij, aby edytować style wzorca tekstu</a:t>
            </a:r>
          </a:p>
          <a:p>
            <a:pPr lvl="0"/>
            <a:endParaRPr lang="pl-PL" dirty="0"/>
          </a:p>
          <a:p>
            <a:pPr lvl="0"/>
            <a:endParaRPr lang="pl-PL" dirty="0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l-PL" dirty="0"/>
              <a:t>Kliknij, aby edytować style wzorca tekstu</a:t>
            </a:r>
          </a:p>
          <a:p>
            <a:pPr lvl="0"/>
            <a:endParaRPr lang="pl-PL" dirty="0"/>
          </a:p>
          <a:p>
            <a:pPr lvl="0"/>
            <a:endParaRPr lang="pl-PL" dirty="0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l-PL" dirty="0"/>
              <a:t>Kliknij, aby edytować style wzorca tekstu</a:t>
            </a:r>
          </a:p>
        </p:txBody>
      </p:sp>
      <p:pic>
        <p:nvPicPr>
          <p:cNvPr id="15" name="Obraz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sp>
        <p:nvSpPr>
          <p:cNvPr id="16" name="Tytuł 1"/>
          <p:cNvSpPr txBox="1">
            <a:spLocks/>
          </p:cNvSpPr>
          <p:nvPr userDrawn="1"/>
        </p:nvSpPr>
        <p:spPr>
          <a:xfrm>
            <a:off x="4695453" y="536729"/>
            <a:ext cx="4297347" cy="2816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pl-PL" dirty="0"/>
              <a:t>Podsumowanie</a:t>
            </a:r>
          </a:p>
        </p:txBody>
      </p:sp>
      <p:cxnSp>
        <p:nvCxnSpPr>
          <p:cNvPr id="18" name="Łącznik prosty 17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877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472" y="1866485"/>
            <a:ext cx="4868199" cy="344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36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0342D-BFEB-4330-B4F3-C064C2945100}" type="datetimeFigureOut">
              <a:rPr lang="pl-PL" smtClean="0"/>
              <a:pPr/>
              <a:t>23.01.2026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9079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5" r:id="rId2"/>
    <p:sldLayoutId id="2147483706" r:id="rId3"/>
    <p:sldLayoutId id="2147483688" r:id="rId4"/>
    <p:sldLayoutId id="2147483701" r:id="rId5"/>
    <p:sldLayoutId id="2147483702" r:id="rId6"/>
    <p:sldLayoutId id="2147483699" r:id="rId7"/>
    <p:sldLayoutId id="2147483703" r:id="rId8"/>
    <p:sldLayoutId id="2147483687" r:id="rId9"/>
    <p:sldLayoutId id="2147483700" r:id="rId10"/>
    <p:sldLayoutId id="2147483697" r:id="rId11"/>
    <p:sldLayoutId id="2147483705" r:id="rId12"/>
    <p:sldLayoutId id="2147483704" r:id="rId13"/>
    <p:sldLayoutId id="2147483698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ID-355 Radiowy system detekcji i identyfikacji obecności użytkowników 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l-PL" dirty="0"/>
              <a:t>KSSIR  Opiekun- Dr. Krzysztof </a:t>
            </a:r>
            <a:r>
              <a:rPr lang="pl-PL" dirty="0" err="1"/>
              <a:t>Cwalina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60126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AA0B2-069F-F190-5513-BBF54F53CD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FC8E61A-2504-63B0-E26C-494DC64ECE79}"/>
              </a:ext>
            </a:extLst>
          </p:cNvPr>
          <p:cNvSpPr txBox="1">
            <a:spLocks/>
          </p:cNvSpPr>
          <p:nvPr/>
        </p:nvSpPr>
        <p:spPr>
          <a:xfrm>
            <a:off x="932873" y="1958108"/>
            <a:ext cx="7656945" cy="438727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l-PL" dirty="0"/>
              <a:t>Członkowie zespołu projektowego:</a:t>
            </a:r>
          </a:p>
          <a:p>
            <a:pPr marL="0" indent="0" algn="ctr">
              <a:buNone/>
            </a:pPr>
            <a:endParaRPr lang="pl-PL" dirty="0"/>
          </a:p>
          <a:p>
            <a:r>
              <a:rPr lang="pl-PL" dirty="0"/>
              <a:t>Mateusz </a:t>
            </a:r>
            <a:r>
              <a:rPr lang="pl-PL" dirty="0" err="1"/>
              <a:t>Chorębała</a:t>
            </a:r>
            <a:r>
              <a:rPr lang="pl-PL" dirty="0"/>
              <a:t> 198306 – kierownik zespołu</a:t>
            </a:r>
          </a:p>
          <a:p>
            <a:r>
              <a:rPr lang="pl-PL" dirty="0"/>
              <a:t>Mateusz Moćko 197675</a:t>
            </a:r>
          </a:p>
          <a:p>
            <a:r>
              <a:rPr lang="pl-PL" dirty="0"/>
              <a:t>Mateusz Zakrzewski 197830</a:t>
            </a:r>
          </a:p>
          <a:p>
            <a:r>
              <a:rPr lang="pl-PL" dirty="0"/>
              <a:t>Adam </a:t>
            </a:r>
            <a:r>
              <a:rPr lang="pl-PL" dirty="0" err="1"/>
              <a:t>Kutysz</a:t>
            </a:r>
            <a:r>
              <a:rPr lang="pl-PL" dirty="0"/>
              <a:t> 197758</a:t>
            </a:r>
          </a:p>
          <a:p>
            <a:r>
              <a:rPr lang="pl-PL" dirty="0"/>
              <a:t>Tomasz Witkowski 198010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85310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tuł 6"/>
          <p:cNvSpPr>
            <a:spLocks noGrp="1"/>
          </p:cNvSpPr>
          <p:nvPr>
            <p:ph type="ctrTitle"/>
          </p:nvPr>
        </p:nvSpPr>
        <p:spPr>
          <a:xfrm>
            <a:off x="5291072" y="649515"/>
            <a:ext cx="1923461" cy="281637"/>
          </a:xfrm>
        </p:spPr>
        <p:txBody>
          <a:bodyPr/>
          <a:lstStyle/>
          <a:p>
            <a:r>
              <a:rPr lang="pl-PL" dirty="0"/>
              <a:t>Agenda</a:t>
            </a:r>
          </a:p>
        </p:txBody>
      </p:sp>
      <p:sp>
        <p:nvSpPr>
          <p:cNvPr id="13" name="Podtytuł 2"/>
          <p:cNvSpPr txBox="1">
            <a:spLocks/>
          </p:cNvSpPr>
          <p:nvPr/>
        </p:nvSpPr>
        <p:spPr>
          <a:xfrm>
            <a:off x="932873" y="1958108"/>
            <a:ext cx="7656945" cy="438727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Cel projektu</a:t>
            </a:r>
          </a:p>
          <a:p>
            <a:r>
              <a:rPr lang="pl-PL" dirty="0"/>
              <a:t>Założenia</a:t>
            </a:r>
          </a:p>
          <a:p>
            <a:r>
              <a:rPr lang="pl-PL" dirty="0"/>
              <a:t>Elementy systemu i podział obowiązków</a:t>
            </a:r>
          </a:p>
          <a:p>
            <a:r>
              <a:rPr lang="pl-PL" dirty="0"/>
              <a:t>Osiągnięte wyniki</a:t>
            </a:r>
          </a:p>
          <a:p>
            <a:r>
              <a:rPr lang="pl-PL" dirty="0"/>
              <a:t>Kierunek przyszłych prac</a:t>
            </a:r>
          </a:p>
          <a:p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8607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4712433" y="593334"/>
            <a:ext cx="4210947" cy="281637"/>
          </a:xfrm>
        </p:spPr>
        <p:txBody>
          <a:bodyPr/>
          <a:lstStyle/>
          <a:p>
            <a:r>
              <a:rPr lang="pl-PL" dirty="0"/>
              <a:t>Cel i założenia Projektu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947928" y="2907264"/>
            <a:ext cx="6940296" cy="3088094"/>
          </a:xfrm>
        </p:spPr>
        <p:txBody>
          <a:bodyPr>
            <a:normAutofit/>
          </a:bodyPr>
          <a:lstStyle/>
          <a:p>
            <a:r>
              <a:rPr lang="pl-PL" sz="2000" b="0" dirty="0"/>
              <a:t>Do celu projektu należy opracowanie, zrealizowanie oraz przeprowadzenie testów radiowego systemu detekcji i identyfikacji obecności na podstawie zarejestrowanych sygnatur radiowych dostępnych sygnałów okazjonalnych (sieci komórkowych, sieci Wi-Fi)</a:t>
            </a:r>
            <a:endParaRPr lang="pl-PL" sz="2000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l-PL" dirty="0"/>
              <a:t>Cel Projektu</a:t>
            </a:r>
          </a:p>
        </p:txBody>
      </p:sp>
    </p:spTree>
    <p:extLst>
      <p:ext uri="{BB962C8B-B14F-4D97-AF65-F5344CB8AC3E}">
        <p14:creationId xmlns:p14="http://schemas.microsoft.com/office/powerpoint/2010/main" val="1858836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Cel i założenia Projektu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487392" y="2794217"/>
            <a:ext cx="8169215" cy="3498158"/>
          </a:xfrm>
        </p:spPr>
        <p:txBody>
          <a:bodyPr/>
          <a:lstStyle/>
          <a:p>
            <a:r>
              <a:rPr lang="pl-PL" dirty="0"/>
              <a:t>Radiowa mapa obszaru obejmowanego przez system – Tomasz Witkowski</a:t>
            </a:r>
          </a:p>
          <a:p>
            <a:r>
              <a:rPr lang="pl-PL" dirty="0"/>
              <a:t>Odbieranie sygnałów okazjonalnych – Mateusz Moćko, Mateusz </a:t>
            </a:r>
            <a:r>
              <a:rPr lang="pl-PL" dirty="0" err="1"/>
              <a:t>Chorębała</a:t>
            </a:r>
            <a:endParaRPr lang="pl-PL" dirty="0"/>
          </a:p>
          <a:p>
            <a:r>
              <a:rPr lang="pl-PL" dirty="0"/>
              <a:t>Protokół komunikacyjny między urządzeniem mobilnym i serwerem - </a:t>
            </a:r>
            <a:br>
              <a:rPr lang="pl-PL" dirty="0"/>
            </a:br>
            <a:r>
              <a:rPr lang="pl-PL" dirty="0"/>
              <a:t>Adam </a:t>
            </a:r>
            <a:r>
              <a:rPr lang="pl-PL" dirty="0" err="1"/>
              <a:t>Kutysz</a:t>
            </a:r>
            <a:endParaRPr lang="pl-PL" dirty="0"/>
          </a:p>
          <a:p>
            <a:r>
              <a:rPr lang="pl-PL" dirty="0"/>
              <a:t>Serwer z dostępem webowym - Mateusz Zakrzewski</a:t>
            </a:r>
          </a:p>
          <a:p>
            <a:r>
              <a:rPr lang="pl-PL" dirty="0"/>
              <a:t>Przetworzenie danych wewnątrz </a:t>
            </a:r>
            <a:r>
              <a:rPr lang="pl-PL" dirty="0" err="1"/>
              <a:t>sewera</a:t>
            </a:r>
            <a:r>
              <a:rPr lang="pl-PL" dirty="0"/>
              <a:t> – Mateusz Moćko, Tomasz Witkowski</a:t>
            </a:r>
          </a:p>
          <a:p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10"/>
          </p:nvPr>
        </p:nvSpPr>
        <p:spPr>
          <a:xfrm>
            <a:off x="523021" y="1687760"/>
            <a:ext cx="7930866" cy="406715"/>
          </a:xfrm>
        </p:spPr>
        <p:txBody>
          <a:bodyPr>
            <a:normAutofit/>
          </a:bodyPr>
          <a:lstStyle/>
          <a:p>
            <a:r>
              <a:rPr lang="pl-PL" dirty="0"/>
              <a:t>Założenia projektu – elementy systemu oraz podział zadań</a:t>
            </a:r>
          </a:p>
        </p:txBody>
      </p:sp>
    </p:spTree>
    <p:extLst>
      <p:ext uri="{BB962C8B-B14F-4D97-AF65-F5344CB8AC3E}">
        <p14:creationId xmlns:p14="http://schemas.microsoft.com/office/powerpoint/2010/main" val="2378882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Projekt systemu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l-PL" dirty="0"/>
              <a:t>Infrastruktura</a:t>
            </a:r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99" t="16706" r="7359" b="12603"/>
          <a:stretch/>
        </p:blipFill>
        <p:spPr>
          <a:xfrm>
            <a:off x="746156" y="2636748"/>
            <a:ext cx="7352147" cy="326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2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60FB-59D1-B600-1E56-7C56907446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Źródło sygnałów okazjonalnych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0D3174-8B67-85C7-1173-F4241466D6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System opiera się na istniejącej uczelnianej sieci Wi-Fi </a:t>
            </a:r>
            <a:r>
              <a:rPr lang="pl-PL" dirty="0" err="1"/>
              <a:t>Eduroam</a:t>
            </a:r>
            <a:endParaRPr lang="pl-PL" dirty="0"/>
          </a:p>
          <a:p>
            <a:r>
              <a:rPr lang="pl-PL" dirty="0"/>
              <a:t>W ramach projektu odbierane są sygnały okazjonalne – nie są w żaden sposób przez nas wywoływane.</a:t>
            </a:r>
          </a:p>
          <a:p>
            <a:r>
              <a:rPr lang="pl-PL" dirty="0"/>
              <a:t>System działa w paśmie 5 GHz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B387F-E31B-FD72-4996-C95CBB3E6C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l-PL" dirty="0" err="1"/>
              <a:t>Eduroam</a:t>
            </a:r>
            <a:endParaRPr lang="pl-PL" dirty="0"/>
          </a:p>
        </p:txBody>
      </p:sp>
      <p:pic>
        <p:nvPicPr>
          <p:cNvPr id="7" name="Obraz 6"/>
          <p:cNvPicPr>
            <a:picLocks noChangeAspect="1"/>
          </p:cNvPicPr>
          <p:nvPr/>
        </p:nvPicPr>
        <p:blipFill rotWithShape="1">
          <a:blip r:embed="rId2"/>
          <a:srcRect l="-476" t="11041" r="12479" b="26960"/>
          <a:stretch/>
        </p:blipFill>
        <p:spPr>
          <a:xfrm>
            <a:off x="1906438" y="4473060"/>
            <a:ext cx="5020413" cy="198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100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Funkcjonalność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10"/>
          </p:nvPr>
        </p:nvSpPr>
        <p:spPr>
          <a:xfrm>
            <a:off x="523020" y="1687760"/>
            <a:ext cx="8491583" cy="406715"/>
          </a:xfrm>
        </p:spPr>
        <p:txBody>
          <a:bodyPr>
            <a:normAutofit/>
          </a:bodyPr>
          <a:lstStyle/>
          <a:p>
            <a:r>
              <a:rPr lang="pl-PL" dirty="0"/>
              <a:t>Mapa Odcisków RF sygnałów okazjonalnych</a:t>
            </a:r>
          </a:p>
        </p:txBody>
      </p:sp>
      <p:pic>
        <p:nvPicPr>
          <p:cNvPr id="8" name="Obraz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307" y="3744862"/>
            <a:ext cx="5964292" cy="26987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15C187-C1CE-A16C-4060-DC0FA687DA99}"/>
              </a:ext>
            </a:extLst>
          </p:cNvPr>
          <p:cNvSpPr txBox="1"/>
          <p:nvPr/>
        </p:nvSpPr>
        <p:spPr>
          <a:xfrm>
            <a:off x="1466401" y="2544533"/>
            <a:ext cx="61565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Zapamiętanie mocy odbieranych sygnałów charakterystycznych dla danego punktu.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Wymiary siatki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Rysowanie mapy</a:t>
            </a:r>
          </a:p>
        </p:txBody>
      </p:sp>
    </p:spTree>
    <p:extLst>
      <p:ext uri="{BB962C8B-B14F-4D97-AF65-F5344CB8AC3E}">
        <p14:creationId xmlns:p14="http://schemas.microsoft.com/office/powerpoint/2010/main" val="1418184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Funkcjonalność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177725" y="3112453"/>
            <a:ext cx="4144773" cy="2986422"/>
          </a:xfrm>
        </p:spPr>
        <p:txBody>
          <a:bodyPr/>
          <a:lstStyle/>
          <a:p>
            <a:r>
              <a:rPr lang="pl-PL" dirty="0"/>
              <a:t>Realizowane na urządzeniu typu SBC z zewnętrzną kartą sieciową Wi-Fi</a:t>
            </a:r>
          </a:p>
          <a:p>
            <a:r>
              <a:rPr lang="pl-PL" dirty="0"/>
              <a:t>Odbieranie sygnałów okazjonalnych i zapis do pliku – skrypt</a:t>
            </a:r>
          </a:p>
          <a:p>
            <a:r>
              <a:rPr lang="pl-PL" dirty="0"/>
              <a:t>Częstotliwość dokonywania pomiaru – kolejny kanał co 100ms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10"/>
          </p:nvPr>
        </p:nvSpPr>
        <p:spPr>
          <a:xfrm>
            <a:off x="523020" y="1687760"/>
            <a:ext cx="8383379" cy="406715"/>
          </a:xfrm>
        </p:spPr>
        <p:txBody>
          <a:bodyPr/>
          <a:lstStyle/>
          <a:p>
            <a:r>
              <a:rPr lang="pl-PL" dirty="0"/>
              <a:t>Urządzenie Mobilne - pomiary</a:t>
            </a:r>
          </a:p>
        </p:txBody>
      </p:sp>
      <p:pic>
        <p:nvPicPr>
          <p:cNvPr id="1026" name="Picture 1">
            <a:extLst>
              <a:ext uri="{FF2B5EF4-FFF2-40B4-BE49-F238E27FC236}">
                <a16:creationId xmlns:a16="http://schemas.microsoft.com/office/drawing/2014/main" id="{CBF93D9C-1273-B60D-D5D0-4AB1D8D58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4204" y="2691344"/>
            <a:ext cx="2657839" cy="3601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1203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DFE2B-5759-1F75-5076-6D2D28FA8C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Funkcjonalność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F31E9-6A57-2DC4-0AAB-70D6B1B0A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808670"/>
            <a:ext cx="3083767" cy="3554807"/>
          </a:xfrm>
        </p:spPr>
        <p:txBody>
          <a:bodyPr>
            <a:normAutofit/>
          </a:bodyPr>
          <a:lstStyle/>
          <a:p>
            <a:r>
              <a:rPr lang="pl-PL" dirty="0"/>
              <a:t>Skrypt w </a:t>
            </a:r>
            <a:r>
              <a:rPr lang="pl-PL" dirty="0" err="1"/>
              <a:t>Pythonie</a:t>
            </a:r>
            <a:endParaRPr lang="pl-PL" dirty="0"/>
          </a:p>
          <a:p>
            <a:r>
              <a:rPr lang="pl-PL" dirty="0"/>
              <a:t> Wykorzystanie biblioteki  </a:t>
            </a:r>
            <a:r>
              <a:rPr lang="pl-PL" dirty="0" err="1"/>
              <a:t>Scapy</a:t>
            </a:r>
            <a:r>
              <a:rPr lang="pl-PL" dirty="0"/>
              <a:t>, do odczytu z ramki podstawowych informacje </a:t>
            </a:r>
          </a:p>
          <a:p>
            <a:r>
              <a:rPr lang="pl-PL" dirty="0"/>
              <a:t>Eksport zebranych danych w postaci bazy danych z pomocą biblioteki sqlite3. </a:t>
            </a:r>
          </a:p>
          <a:p>
            <a:r>
              <a:rPr lang="pl-PL" dirty="0"/>
              <a:t>Możliwość zdefiniowania  m.in. interfejsu </a:t>
            </a:r>
            <a:r>
              <a:rPr lang="pl-PL"/>
              <a:t>i kanałów </a:t>
            </a:r>
            <a:r>
              <a:rPr lang="pl-PL" dirty="0"/>
              <a:t>na których ma </a:t>
            </a:r>
            <a:r>
              <a:rPr lang="pl-PL"/>
              <a:t>działać skrypt </a:t>
            </a:r>
            <a:endParaRPr lang="pl-P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23AD7-A484-6840-3053-E90F4355AA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l-PL" dirty="0"/>
              <a:t>Odbiór sygnałów - skrypt</a:t>
            </a:r>
          </a:p>
        </p:txBody>
      </p:sp>
    </p:spTree>
    <p:extLst>
      <p:ext uri="{BB962C8B-B14F-4D97-AF65-F5344CB8AC3E}">
        <p14:creationId xmlns:p14="http://schemas.microsoft.com/office/powerpoint/2010/main" val="3985477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Funkcjonalność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l-PL" dirty="0"/>
              <a:t>Przesyłanie danych</a:t>
            </a:r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337" y="2934973"/>
            <a:ext cx="4405312" cy="26558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pole tekstowe 5"/>
          <p:cNvSpPr txBox="1"/>
          <p:nvPr/>
        </p:nvSpPr>
        <p:spPr>
          <a:xfrm>
            <a:off x="1064871" y="3495554"/>
            <a:ext cx="2505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l-PL" dirty="0"/>
          </a:p>
        </p:txBody>
      </p:sp>
      <p:sp>
        <p:nvSpPr>
          <p:cNvPr id="7" name="Podtytuł 2"/>
          <p:cNvSpPr>
            <a:spLocks noGrp="1"/>
          </p:cNvSpPr>
          <p:nvPr>
            <p:ph type="subTitle" idx="1"/>
          </p:nvPr>
        </p:nvSpPr>
        <p:spPr>
          <a:xfrm>
            <a:off x="668439" y="3105157"/>
            <a:ext cx="3523999" cy="2485649"/>
          </a:xfrm>
        </p:spPr>
        <p:txBody>
          <a:bodyPr/>
          <a:lstStyle/>
          <a:p>
            <a:r>
              <a:rPr lang="pl-PL" b="0" dirty="0"/>
              <a:t>wstępny skrypt</a:t>
            </a:r>
          </a:p>
          <a:p>
            <a:r>
              <a:rPr lang="pl-PL" b="0" dirty="0"/>
              <a:t>Trochę więcej na ten temat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26320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Funkcjonalność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l-PL" dirty="0"/>
              <a:t>Serwer – przechowywanie danych</a:t>
            </a:r>
          </a:p>
        </p:txBody>
      </p:sp>
      <p:sp>
        <p:nvSpPr>
          <p:cNvPr id="5" name="AutoShape 2" descr="image.png"/>
          <p:cNvSpPr>
            <a:spLocks noGrp="1" noChangeAspect="1" noChangeArrowheads="1"/>
          </p:cNvSpPr>
          <p:nvPr>
            <p:ph type="subTitle" idx="1"/>
          </p:nvPr>
        </p:nvSpPr>
        <p:spPr bwMode="auto">
          <a:xfrm>
            <a:off x="1814183" y="2810421"/>
            <a:ext cx="5124184" cy="1237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pl-PL" dirty="0"/>
              <a:t>&lt; Mati Zakrzewski opis projektowanej bazy danych&gt; i serwera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EBA1EF8-7A5B-E231-4E88-0EF49A014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876" y="4433153"/>
            <a:ext cx="6832248" cy="1577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1309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635EA-1F24-DA97-7D61-F5DF8CD70C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Pomiary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707B53-E2BF-2A08-A6D8-A9186B8A1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825925"/>
            <a:ext cx="6858000" cy="1655762"/>
          </a:xfrm>
        </p:spPr>
        <p:txBody>
          <a:bodyPr/>
          <a:lstStyle/>
          <a:p>
            <a:r>
              <a:rPr lang="pl-PL" dirty="0"/>
              <a:t>Pomiary przeprowadzone pod koniec grudnia 2025 r.</a:t>
            </a:r>
          </a:p>
          <a:p>
            <a:r>
              <a:rPr lang="pl-PL" dirty="0"/>
              <a:t>Wykonanie mapy oraz dodatkowy pomiar 15 min.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4427F-F1E7-C4D2-A488-6CEF049756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3021" y="1687760"/>
            <a:ext cx="8258670" cy="406715"/>
          </a:xfrm>
        </p:spPr>
        <p:txBody>
          <a:bodyPr>
            <a:normAutofit/>
          </a:bodyPr>
          <a:lstStyle/>
          <a:p>
            <a:r>
              <a:rPr lang="pl-PL" dirty="0"/>
              <a:t>Odbiór sygnałów – wyniki pierwszych pomiarów</a:t>
            </a:r>
          </a:p>
        </p:txBody>
      </p:sp>
      <p:pic>
        <p:nvPicPr>
          <p:cNvPr id="5" name="Obraz 7">
            <a:extLst>
              <a:ext uri="{FF2B5EF4-FFF2-40B4-BE49-F238E27FC236}">
                <a16:creationId xmlns:a16="http://schemas.microsoft.com/office/drawing/2014/main" id="{06B04B7C-16ED-4854-2AF1-ED08D8D11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545" y="4649637"/>
            <a:ext cx="4193499" cy="1897499"/>
          </a:xfrm>
          <a:prstGeom prst="rect">
            <a:avLst/>
          </a:prstGeom>
        </p:spPr>
      </p:pic>
      <p:pic>
        <p:nvPicPr>
          <p:cNvPr id="7" name="Picture 6" descr="A device on the floor&#10;&#10;AI-generated content may be incorrect.">
            <a:extLst>
              <a:ext uri="{FF2B5EF4-FFF2-40B4-BE49-F238E27FC236}">
                <a16:creationId xmlns:a16="http://schemas.microsoft.com/office/drawing/2014/main" id="{AC5232E3-B343-00DD-B29B-E1A326405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589" y="3982805"/>
            <a:ext cx="2701415" cy="237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257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18134-2A03-F399-FD4E-690D358835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Pomiary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5AC70B-2D48-BB7D-285B-C6B08D470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2064" y="2308340"/>
            <a:ext cx="6858000" cy="1452777"/>
          </a:xfrm>
        </p:spPr>
        <p:txBody>
          <a:bodyPr>
            <a:normAutofit/>
          </a:bodyPr>
          <a:lstStyle/>
          <a:p>
            <a:r>
              <a:rPr lang="pl-PL" dirty="0"/>
              <a:t>Przykładowe wyniki pomiaru – mapa</a:t>
            </a:r>
          </a:p>
          <a:p>
            <a:r>
              <a:rPr lang="pl-PL" dirty="0"/>
              <a:t>Popełniony błąd – za krótki czas pomiaru</a:t>
            </a:r>
          </a:p>
          <a:p>
            <a:r>
              <a:rPr lang="pl-PL" dirty="0"/>
              <a:t>Problem z powtarzającymi się pomiarami</a:t>
            </a:r>
          </a:p>
          <a:p>
            <a:endParaRPr lang="pl-P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E9A54-1514-E623-2A18-1CFBB2849C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3020" y="1687760"/>
            <a:ext cx="8120647" cy="406715"/>
          </a:xfrm>
        </p:spPr>
        <p:txBody>
          <a:bodyPr>
            <a:normAutofit/>
          </a:bodyPr>
          <a:lstStyle/>
          <a:p>
            <a:r>
              <a:rPr lang="pl-PL" dirty="0"/>
              <a:t>Odbiór sygnałów – wyniki pierwszych pomiarów</a:t>
            </a:r>
          </a:p>
          <a:p>
            <a:endParaRPr lang="pl-PL" dirty="0"/>
          </a:p>
        </p:txBody>
      </p:sp>
      <p:pic>
        <p:nvPicPr>
          <p:cNvPr id="8" name="Picture 7" descr="A white sheet with blue dots&#10;&#10;AI-generated content may be incorrect.">
            <a:extLst>
              <a:ext uri="{FF2B5EF4-FFF2-40B4-BE49-F238E27FC236}">
                <a16:creationId xmlns:a16="http://schemas.microsoft.com/office/drawing/2014/main" id="{F59E922E-BD8D-B6A5-5B79-E7756D587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417" y="3357050"/>
            <a:ext cx="5965165" cy="317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616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31D81-B603-6330-F193-D7647BC793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Pomiary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2DA30C-F413-D55E-8668-72EF30B14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1597" y="2387799"/>
            <a:ext cx="6858000" cy="812601"/>
          </a:xfrm>
        </p:spPr>
        <p:txBody>
          <a:bodyPr/>
          <a:lstStyle/>
          <a:p>
            <a:r>
              <a:rPr lang="pl-PL" dirty="0"/>
              <a:t>Pomiar 15 min</a:t>
            </a:r>
          </a:p>
          <a:p>
            <a:r>
              <a:rPr lang="pl-PL" dirty="0"/>
              <a:t>2 różne moce w zależności od odbieranego kanału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4ADCD2-AD6C-DEC3-06F7-8FDDD96BCC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3021" y="1687760"/>
            <a:ext cx="8146526" cy="406715"/>
          </a:xfrm>
        </p:spPr>
        <p:txBody>
          <a:bodyPr>
            <a:normAutofit/>
          </a:bodyPr>
          <a:lstStyle/>
          <a:p>
            <a:r>
              <a:rPr lang="pl-PL" dirty="0"/>
              <a:t>Odbiór sygnałów – wyniki pierwszych pomiarów</a:t>
            </a:r>
          </a:p>
          <a:p>
            <a:endParaRPr lang="pl-PL" dirty="0"/>
          </a:p>
        </p:txBody>
      </p:sp>
      <p:pic>
        <p:nvPicPr>
          <p:cNvPr id="6" name="Picture 5" descr="A line of dots with numbers&#10;&#10;AI-generated content may be incorrect.">
            <a:extLst>
              <a:ext uri="{FF2B5EF4-FFF2-40B4-BE49-F238E27FC236}">
                <a16:creationId xmlns:a16="http://schemas.microsoft.com/office/drawing/2014/main" id="{F1D3CB43-911D-4A9D-9AE0-ADF31338A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901" y="3104562"/>
            <a:ext cx="6702197" cy="350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179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CD5C6-399A-7CE8-BBAE-2F74305825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Podsumowanie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4EE1B0-6463-181E-0039-E5E979DE0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817298"/>
            <a:ext cx="6858000" cy="3592128"/>
          </a:xfrm>
        </p:spPr>
        <p:txBody>
          <a:bodyPr>
            <a:normAutofit/>
          </a:bodyPr>
          <a:lstStyle/>
          <a:p>
            <a:r>
              <a:rPr lang="pl-PL" dirty="0"/>
              <a:t>Urządzenie mobilne realizujące pomiary i detekcję obecności</a:t>
            </a:r>
          </a:p>
          <a:p>
            <a:r>
              <a:rPr lang="pl-PL" dirty="0"/>
              <a:t>Serwer</a:t>
            </a:r>
          </a:p>
          <a:p>
            <a:r>
              <a:rPr lang="pl-PL" dirty="0"/>
              <a:t>Skrypt odbierający sygnały okazjonalne – w trakcie poprawek</a:t>
            </a:r>
          </a:p>
          <a:p>
            <a:r>
              <a:rPr lang="pl-PL" dirty="0"/>
              <a:t>Mapa odcisków RF – w trakcie ulepszania</a:t>
            </a:r>
          </a:p>
          <a:p>
            <a:r>
              <a:rPr lang="pl-PL" dirty="0"/>
              <a:t>Protokół komunikacyjny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9E7679-2503-1D73-E396-4F64701B8F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l-PL" dirty="0"/>
              <a:t>Zrealizowane elementy systemu:</a:t>
            </a:r>
          </a:p>
        </p:txBody>
      </p:sp>
    </p:spTree>
    <p:extLst>
      <p:ext uri="{BB962C8B-B14F-4D97-AF65-F5344CB8AC3E}">
        <p14:creationId xmlns:p14="http://schemas.microsoft.com/office/powerpoint/2010/main" val="398975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36E3-82CF-27B2-63A4-D320B697F3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Podsumowanie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15E52E-BB4A-81CD-1732-1D1A822B14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Usprawnienie urządzenia mobilnego</a:t>
            </a:r>
          </a:p>
          <a:p>
            <a:r>
              <a:rPr lang="pl-PL" dirty="0"/>
              <a:t>Algorytm dopasowujący</a:t>
            </a:r>
          </a:p>
          <a:p>
            <a:r>
              <a:rPr lang="pl-PL" dirty="0"/>
              <a:t>Rozwinięcie protokołu przesyłającego dane na serwer</a:t>
            </a:r>
          </a:p>
          <a:p>
            <a:r>
              <a:rPr lang="pl-PL" dirty="0"/>
              <a:t>Rozwinięcie bazy danych</a:t>
            </a:r>
          </a:p>
          <a:p>
            <a:r>
              <a:rPr lang="pl-PL" dirty="0"/>
              <a:t>Reprezentacja danych z serwera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029FD-8005-038B-521A-FB05C011BA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l-PL" dirty="0"/>
              <a:t>Przyszłe kierunki prac:</a:t>
            </a:r>
          </a:p>
        </p:txBody>
      </p:sp>
    </p:spTree>
    <p:extLst>
      <p:ext uri="{BB962C8B-B14F-4D97-AF65-F5344CB8AC3E}">
        <p14:creationId xmlns:p14="http://schemas.microsoft.com/office/powerpoint/2010/main" val="1869114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4855647"/>
      </p:ext>
    </p:extLst>
  </p:cSld>
  <p:clrMapOvr>
    <a:masterClrMapping/>
  </p:clrMapOvr>
</p:sld>
</file>

<file path=ppt/theme/theme1.xml><?xml version="1.0" encoding="utf-8"?>
<a:theme xmlns:a="http://schemas.openxmlformats.org/drawingml/2006/main" name="PG">
  <a:themeElements>
    <a:clrScheme name="PG">
      <a:dk1>
        <a:srgbClr val="003767"/>
      </a:dk1>
      <a:lt1>
        <a:sysClr val="window" lastClr="FFFFFF"/>
      </a:lt1>
      <a:dk2>
        <a:srgbClr val="44546A"/>
      </a:dk2>
      <a:lt2>
        <a:srgbClr val="E7E6E6"/>
      </a:lt2>
      <a:accent1>
        <a:srgbClr val="E31B23"/>
      </a:accent1>
      <a:accent2>
        <a:srgbClr val="003767"/>
      </a:accent2>
      <a:accent3>
        <a:srgbClr val="B9DEFF"/>
      </a:accent3>
      <a:accent4>
        <a:srgbClr val="737577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Niestandardowy 2">
      <a:majorFont>
        <a:latin typeface="SanukPro-Medium"/>
        <a:ea typeface=""/>
        <a:cs typeface=""/>
      </a:majorFont>
      <a:minorFont>
        <a:latin typeface="SanukPro-Light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acja3" id="{D0BDE39D-86B0-4351-98C7-2F0027CEB9D1}" vid="{8DEA3497-1FC6-4C77-8314-304DE8BC6512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Szablon</Template>
  <TotalTime>536</TotalTime>
  <Words>423</Words>
  <Application>Microsoft Office PowerPoint</Application>
  <PresentationFormat>Pokaz na ekranie (4:3)</PresentationFormat>
  <Paragraphs>82</Paragraphs>
  <Slides>18</Slides>
  <Notes>0</Notes>
  <HiddenSlides>0</HiddenSlides>
  <MMClips>0</MMClips>
  <ScaleCrop>false</ScaleCrop>
  <HeadingPairs>
    <vt:vector size="8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Osadzone serwery OLE</vt:lpstr>
      </vt:variant>
      <vt:variant>
        <vt:i4>1</vt:i4>
      </vt:variant>
      <vt:variant>
        <vt:lpstr>Tytuły slajdów</vt:lpstr>
      </vt:variant>
      <vt:variant>
        <vt:i4>18</vt:i4>
      </vt:variant>
    </vt:vector>
  </HeadingPairs>
  <TitlesOfParts>
    <vt:vector size="25" baseType="lpstr">
      <vt:lpstr>Arial</vt:lpstr>
      <vt:lpstr>Calibri</vt:lpstr>
      <vt:lpstr>SanukPro-Light</vt:lpstr>
      <vt:lpstr>SanukPro-Medium</vt:lpstr>
      <vt:lpstr>Wingdings</vt:lpstr>
      <vt:lpstr>PG</vt:lpstr>
      <vt:lpstr>Arkusz</vt:lpstr>
      <vt:lpstr>ID-355 Radiowy system detekcji i identyfikacji obecności użytkowników </vt:lpstr>
      <vt:lpstr>Prezentacja programu PowerPoint</vt:lpstr>
      <vt:lpstr>Agenda</vt:lpstr>
      <vt:lpstr>Cel i założenia Projektu</vt:lpstr>
      <vt:lpstr>Cel i założenia Projektu</vt:lpstr>
      <vt:lpstr>Projekt systemu</vt:lpstr>
      <vt:lpstr>Źródło sygnałów okazjonalnych</vt:lpstr>
      <vt:lpstr>Funkcjonalność</vt:lpstr>
      <vt:lpstr>Funkcjonalność</vt:lpstr>
      <vt:lpstr>Funkcjonalność</vt:lpstr>
      <vt:lpstr>Funkcjonalność</vt:lpstr>
      <vt:lpstr>Funkcjonalność</vt:lpstr>
      <vt:lpstr>Pomiary</vt:lpstr>
      <vt:lpstr>Pomiary</vt:lpstr>
      <vt:lpstr>Pomiary</vt:lpstr>
      <vt:lpstr>Podsumowanie</vt:lpstr>
      <vt:lpstr>Podsumowanie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Ewa</dc:creator>
  <cp:lastModifiedBy>Mateusz Moćko, s197675</cp:lastModifiedBy>
  <cp:revision>193</cp:revision>
  <dcterms:created xsi:type="dcterms:W3CDTF">2017-05-26T10:51:07Z</dcterms:created>
  <dcterms:modified xsi:type="dcterms:W3CDTF">2026-01-23T16:04:26Z</dcterms:modified>
</cp:coreProperties>
</file>