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handoutMasterIdLst>
    <p:handoutMasterId r:id="rId23"/>
  </p:handoutMasterIdLst>
  <p:sldIdLst>
    <p:sldId id="282" r:id="rId2"/>
    <p:sldId id="299" r:id="rId3"/>
    <p:sldId id="300" r:id="rId4"/>
    <p:sldId id="283" r:id="rId5"/>
    <p:sldId id="301" r:id="rId6"/>
    <p:sldId id="285" r:id="rId7"/>
    <p:sldId id="284" r:id="rId8"/>
    <p:sldId id="305" r:id="rId9"/>
    <p:sldId id="306" r:id="rId10"/>
    <p:sldId id="286" r:id="rId11"/>
    <p:sldId id="294" r:id="rId12"/>
    <p:sldId id="304" r:id="rId13"/>
    <p:sldId id="287" r:id="rId14"/>
    <p:sldId id="288" r:id="rId15"/>
    <p:sldId id="296" r:id="rId16"/>
    <p:sldId id="302" r:id="rId17"/>
    <p:sldId id="307" r:id="rId18"/>
    <p:sldId id="291" r:id="rId19"/>
    <p:sldId id="290" r:id="rId20"/>
    <p:sldId id="277" r:id="rId21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54"/>
    <a:srgbClr val="003767"/>
    <a:srgbClr val="C8CBCE"/>
    <a:srgbClr val="E31B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FF271-8417-7F02-7111-23EB3CCD290B}" v="2" dt="2026-01-24T16:39:51.102"/>
    <p1510:client id="{31E426E7-90B4-3C77-7DA1-2138B2372D3F}" v="29" dt="2026-01-24T16:03:35.952"/>
    <p1510:client id="{5F05E4AF-18A6-4672-A525-C4627C6A075D}" v="466" dt="2026-01-24T13:28:40.584"/>
    <p1510:client id="{A4A0893C-70DE-20AB-DF4A-736F0FFCD4C4}" v="96" dt="2026-01-24T13:08:39.095"/>
    <p1510:client id="{BF7BFB82-CA61-A1FE-01DE-6D04972AC63E}" v="2153" dt="2026-01-24T13:57:28.635"/>
    <p1510:client id="{E23422A7-60A3-7529-85B3-CF4D7A29C0E0}" v="12" dt="2026-01-24T13:32:42.4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91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176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Seria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Arkusz1!$A$2:$A$5</c:f>
              <c:strCache>
                <c:ptCount val="4"/>
                <c:pt idx="0">
                  <c:v>Kategoria 1</c:v>
                </c:pt>
                <c:pt idx="1">
                  <c:v>Kategoria 2</c:v>
                </c:pt>
                <c:pt idx="2">
                  <c:v>Kategoria 3</c:v>
                </c:pt>
                <c:pt idx="3">
                  <c:v>Kategoria 4</c:v>
                </c:pt>
              </c:strCache>
            </c:strRef>
          </c:cat>
          <c:val>
            <c:numRef>
              <c:f>Arkusz1!$B$2:$B$5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F0-412E-904C-DC64B001B7BE}"/>
            </c:ext>
          </c:extLst>
        </c:ser>
        <c:ser>
          <c:idx val="1"/>
          <c:order val="1"/>
          <c:tx>
            <c:strRef>
              <c:f>Arkusz1!$C$1</c:f>
              <c:strCache>
                <c:ptCount val="1"/>
                <c:pt idx="0">
                  <c:v>Seria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Arkusz1!$A$2:$A$5</c:f>
              <c:strCache>
                <c:ptCount val="4"/>
                <c:pt idx="0">
                  <c:v>Kategoria 1</c:v>
                </c:pt>
                <c:pt idx="1">
                  <c:v>Kategoria 2</c:v>
                </c:pt>
                <c:pt idx="2">
                  <c:v>Kategoria 3</c:v>
                </c:pt>
                <c:pt idx="3">
                  <c:v>Kategoria 4</c:v>
                </c:pt>
              </c:strCache>
            </c:strRef>
          </c:cat>
          <c:val>
            <c:numRef>
              <c:f>Arkusz1!$C$2:$C$5</c:f>
              <c:numCache>
                <c:formatCode>General</c:formatCode>
                <c:ptCount val="4"/>
                <c:pt idx="0">
                  <c:v>2.4</c:v>
                </c:pt>
                <c:pt idx="1">
                  <c:v>8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F0-412E-904C-DC64B001B7BE}"/>
            </c:ext>
          </c:extLst>
        </c:ser>
        <c:ser>
          <c:idx val="2"/>
          <c:order val="2"/>
          <c:tx>
            <c:strRef>
              <c:f>Arkusz1!$D$1</c:f>
              <c:strCache>
                <c:ptCount val="1"/>
                <c:pt idx="0">
                  <c:v>Seria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Arkusz1!$A$2:$A$5</c:f>
              <c:strCache>
                <c:ptCount val="4"/>
                <c:pt idx="0">
                  <c:v>Kategoria 1</c:v>
                </c:pt>
                <c:pt idx="1">
                  <c:v>Kategoria 2</c:v>
                </c:pt>
                <c:pt idx="2">
                  <c:v>Kategoria 3</c:v>
                </c:pt>
                <c:pt idx="3">
                  <c:v>Kategoria 4</c:v>
                </c:pt>
              </c:strCache>
            </c:strRef>
          </c:cat>
          <c:val>
            <c:numRef>
              <c:f>Arkusz1!$D$2:$D$5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F0-412E-904C-DC64B001B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66254024"/>
        <c:axId val="366254408"/>
      </c:barChart>
      <c:catAx>
        <c:axId val="3662540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pl-PL" sz="900" b="0" i="0" u="none" strike="noStrike" kern="1200" baseline="0">
                <a:solidFill>
                  <a:srgbClr val="003767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pl-PL"/>
          </a:p>
        </c:txPr>
        <c:crossAx val="366254408"/>
        <c:crosses val="autoZero"/>
        <c:auto val="1"/>
        <c:lblAlgn val="ctr"/>
        <c:lblOffset val="100"/>
        <c:noMultiLvlLbl val="0"/>
      </c:catAx>
      <c:valAx>
        <c:axId val="3662544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pl-PL" sz="900" b="0" i="0" u="none" strike="noStrike" kern="1200" baseline="0">
                <a:solidFill>
                  <a:srgbClr val="003767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pl-PL"/>
          </a:p>
        </c:txPr>
        <c:crossAx val="366254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pl-PL" sz="900" b="0" i="0" u="none" strike="noStrike" kern="1200" baseline="0">
              <a:solidFill>
                <a:srgbClr val="003767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pl-PL" sz="900" baseline="0">
          <a:solidFill>
            <a:srgbClr val="003767"/>
          </a:solidFill>
          <a:latin typeface="Arial" panose="020B0604020202020204" pitchFamily="34" charset="0"/>
        </a:defRPr>
      </a:pPr>
      <a:endParaRPr lang="pl-PL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Arkusz1!$B$1</c:f>
              <c:strCache>
                <c:ptCount val="1"/>
                <c:pt idx="0">
                  <c:v>Sprzedaż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512-4407-BBB2-5F01B27DF37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512-4407-BBB2-5F01B27DF37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512-4407-BBB2-5F01B27DF372}"/>
              </c:ext>
            </c:extLst>
          </c:dPt>
          <c:dPt>
            <c:idx val="3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512-4407-BBB2-5F01B27DF372}"/>
              </c:ext>
            </c:extLst>
          </c:dPt>
          <c:cat>
            <c:strRef>
              <c:f>Arkusz1!$A$2:$A$5</c:f>
              <c:strCache>
                <c:ptCount val="4"/>
                <c:pt idx="0">
                  <c:v>1. kwartał</c:v>
                </c:pt>
                <c:pt idx="1">
                  <c:v>2. kwartał</c:v>
                </c:pt>
                <c:pt idx="2">
                  <c:v>3. kwartał</c:v>
                </c:pt>
                <c:pt idx="3">
                  <c:v>4. kwartał</c:v>
                </c:pt>
              </c:strCache>
            </c:strRef>
          </c:cat>
          <c:val>
            <c:numRef>
              <c:f>Arkusz1!$B$2:$B$5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512-4407-BBB2-5F01B27DF3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767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pl-PL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C9209-3986-4F4F-9798-10F567A8CCA9}" type="datetimeFigureOut">
              <a:rPr lang="pl-PL" smtClean="0"/>
              <a:pPr/>
              <a:t>25.01.2026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9ED95-A86B-4031-854D-4CD9141382AC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2402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77C91-10B1-43B2-BE9C-19E168F96446}" type="datetimeFigureOut">
              <a:rPr lang="pl-PL" smtClean="0"/>
              <a:pPr/>
              <a:t>25.01.2026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FD56A-32A1-4D9A-BC80-736493FF959D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86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FD56A-32A1-4D9A-BC80-736493FF959D}" type="slidenum">
              <a:rPr lang="pl-PL" smtClean="0"/>
              <a:pPr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5524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DFD56A-32A1-4D9A-BC80-736493FF959D}" type="slidenum">
              <a:rPr lang="pl-PL" smtClean="0"/>
              <a:pPr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08770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2.xlsx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bg>
      <p:bgPr>
        <a:solidFill>
          <a:srgbClr val="002E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tuł 1"/>
          <p:cNvSpPr>
            <a:spLocks noGrp="1"/>
          </p:cNvSpPr>
          <p:nvPr>
            <p:ph type="title"/>
          </p:nvPr>
        </p:nvSpPr>
        <p:spPr>
          <a:xfrm>
            <a:off x="1454400" y="4406900"/>
            <a:ext cx="6278400" cy="1362075"/>
          </a:xfrm>
        </p:spPr>
        <p:txBody>
          <a:bodyPr anchor="t">
            <a:normAutofit/>
          </a:bodyPr>
          <a:lstStyle>
            <a:lvl1pPr algn="ctr">
              <a:defRPr sz="2600" b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9" name="Symbol zastępczy tekstu 8"/>
          <p:cNvSpPr>
            <a:spLocks noGrp="1"/>
          </p:cNvSpPr>
          <p:nvPr>
            <p:ph type="body" sz="quarter" idx="10"/>
          </p:nvPr>
        </p:nvSpPr>
        <p:spPr>
          <a:xfrm>
            <a:off x="1454401" y="5615473"/>
            <a:ext cx="6278400" cy="355478"/>
          </a:xfrm>
        </p:spPr>
        <p:txBody>
          <a:bodyPr>
            <a:normAutofit/>
          </a:bodyPr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F11347-CFDF-D80C-5A38-85374EB1B46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77A6A51-5891-4B58-9A2B-40AA18EB74A3}" type="datetime1">
              <a:rPr lang="pl-PL" smtClean="0"/>
              <a:t>25.01.2026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DE9BF73-A00E-4B32-592C-F8C58BCA54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9102A96-FDE7-0D60-A11E-649D98B3325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63187" y="565115"/>
            <a:ext cx="5017625" cy="345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226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  <p:cxnSp>
        <p:nvCxnSpPr>
          <p:cNvPr id="11" name="Łącznik prosty 10"/>
          <p:cNvCxnSpPr/>
          <p:nvPr userDrawn="1"/>
        </p:nvCxnSpPr>
        <p:spPr>
          <a:xfrm>
            <a:off x="3568704" y="581981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8FB1D96E-FB58-6095-486E-A701BDD2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F4A19-D656-4759-90C4-37E0E74635A1}" type="datetime1">
              <a:rPr lang="pl-PL" smtClean="0"/>
              <a:t>25.01.2026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F14AECD-BB2B-DDA3-C7AD-D497F07B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F8E4139-A63D-AE6F-1F2C-2D03C00F8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 userDrawn="1"/>
        </p:nvPicPr>
        <p:blipFill rotWithShape="1">
          <a:blip r:embed="rId2"/>
          <a:srcRect t="886" b="16426"/>
          <a:stretch/>
        </p:blipFill>
        <p:spPr>
          <a:xfrm>
            <a:off x="538140" y="455544"/>
            <a:ext cx="2783711" cy="54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29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817298"/>
            <a:ext cx="6858000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sp>
        <p:nvSpPr>
          <p:cNvPr id="5" name="Tytuł 1"/>
          <p:cNvSpPr txBox="1">
            <a:spLocks/>
          </p:cNvSpPr>
          <p:nvPr userDrawn="1"/>
        </p:nvSpPr>
        <p:spPr>
          <a:xfrm>
            <a:off x="0" y="1431395"/>
            <a:ext cx="9144000" cy="794956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252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sp>
        <p:nvSpPr>
          <p:cNvPr id="6" name="Symbol zastępczy tekstu 5"/>
          <p:cNvSpPr>
            <a:spLocks noGrp="1"/>
          </p:cNvSpPr>
          <p:nvPr>
            <p:ph type="body" sz="quarter" idx="10"/>
          </p:nvPr>
        </p:nvSpPr>
        <p:spPr>
          <a:xfrm>
            <a:off x="523021" y="1687760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cxnSp>
        <p:nvCxnSpPr>
          <p:cNvPr id="11" name="Łącznik prosty 10"/>
          <p:cNvCxnSpPr/>
          <p:nvPr userDrawn="1"/>
        </p:nvCxnSpPr>
        <p:spPr>
          <a:xfrm>
            <a:off x="3539766" y="554278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6424A63C-F065-0E2F-6440-600D189D061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E608D7E-872B-4152-ADD2-4226546C488F}" type="datetime1">
              <a:rPr lang="pl-PL" smtClean="0"/>
              <a:t>25.01.2026</a:t>
            </a:fld>
            <a:endParaRPr lang="pl-PL"/>
          </a:p>
        </p:txBody>
      </p:sp>
      <p:sp>
        <p:nvSpPr>
          <p:cNvPr id="7" name="Symbol zastępczy stopki 6">
            <a:extLst>
              <a:ext uri="{FF2B5EF4-FFF2-40B4-BE49-F238E27FC236}">
                <a16:creationId xmlns:a16="http://schemas.microsoft.com/office/drawing/2014/main" id="{2BAD38EB-E8A5-8ABF-4698-9253B45E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Symbol zastępczy numeru slajdu 7">
            <a:extLst>
              <a:ext uri="{FF2B5EF4-FFF2-40B4-BE49-F238E27FC236}">
                <a16:creationId xmlns:a16="http://schemas.microsoft.com/office/drawing/2014/main" id="{233EABC8-F0CC-44C4-2B3B-44081E58EF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sz="1100"/>
            </a:lvl1pPr>
          </a:lstStyle>
          <a:p>
            <a:fld id="{4A8E4E4C-188F-43B4-9E25-398DACDF1415}" type="slidenum">
              <a:rPr lang="pl-PL" smtClean="0"/>
              <a:pPr/>
              <a:t>‹#›</a:t>
            </a:fld>
            <a:endParaRPr lang="pl-PL" sz="1100" dirty="0"/>
          </a:p>
        </p:txBody>
      </p:sp>
      <p:pic>
        <p:nvPicPr>
          <p:cNvPr id="9" name="Obraz 8"/>
          <p:cNvPicPr>
            <a:picLocks noChangeAspect="1"/>
          </p:cNvPicPr>
          <p:nvPr userDrawn="1"/>
        </p:nvPicPr>
        <p:blipFill rotWithShape="1">
          <a:blip r:embed="rId2"/>
          <a:srcRect b="18071"/>
          <a:stretch/>
        </p:blipFill>
        <p:spPr>
          <a:xfrm>
            <a:off x="569321" y="444360"/>
            <a:ext cx="2723678" cy="52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2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Wykres 27"/>
          <p:cNvGraphicFramePr/>
          <p:nvPr userDrawn="1">
            <p:extLst>
              <p:ext uri="{D42A27DB-BD31-4B8C-83A1-F6EECF244321}">
                <p14:modId xmlns:p14="http://schemas.microsoft.com/office/powerpoint/2010/main" val="4085736609"/>
              </p:ext>
            </p:extLst>
          </p:nvPr>
        </p:nvGraphicFramePr>
        <p:xfrm>
          <a:off x="772824" y="2534934"/>
          <a:ext cx="7674489" cy="3473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Kliknij, aby edytować styl</a:t>
            </a:r>
          </a:p>
        </p:txBody>
      </p:sp>
      <p:pic>
        <p:nvPicPr>
          <p:cNvPr id="11" name="Obraz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3" name="Łącznik prosty 12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EED9BC61-B3D7-9FD5-35EE-D0E082695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36857-18B8-4E32-920F-45E018BE325D}" type="datetime1">
              <a:rPr lang="pl-PL" smtClean="0"/>
              <a:t>25.01.2026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37590448-DD2E-3001-5851-D3A533EF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645F868-3293-E3C2-B4D4-31C68468C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7905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graphicFrame>
        <p:nvGraphicFramePr>
          <p:cNvPr id="5" name="Wykres 4"/>
          <p:cNvGraphicFramePr/>
          <p:nvPr userDrawn="1">
            <p:extLst>
              <p:ext uri="{D42A27DB-BD31-4B8C-83A1-F6EECF244321}">
                <p14:modId xmlns:p14="http://schemas.microsoft.com/office/powerpoint/2010/main" val="173845463"/>
              </p:ext>
            </p:extLst>
          </p:nvPr>
        </p:nvGraphicFramePr>
        <p:xfrm>
          <a:off x="475666" y="2606400"/>
          <a:ext cx="4449600" cy="296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ymbol zastępczy wykresu 2"/>
          <p:cNvSpPr>
            <a:spLocks noGrp="1"/>
          </p:cNvSpPr>
          <p:nvPr>
            <p:ph type="chart" sz="quarter" idx="10"/>
          </p:nvPr>
        </p:nvSpPr>
        <p:spPr>
          <a:xfrm>
            <a:off x="5435600" y="2254250"/>
            <a:ext cx="3514725" cy="305911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9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523021" y="1476742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pic>
        <p:nvPicPr>
          <p:cNvPr id="12" name="Obraz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6" name="Łącznik prosty 15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6C5C815-F163-50F9-11DB-55DF4C0A342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0A5501A-4F5A-4F0D-9AE5-095321E92856}" type="datetime1">
              <a:rPr lang="pl-PL" smtClean="0"/>
              <a:t>25.01.2026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19773BA-646C-F687-F261-8D48EFE706E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F63E7D7-E3DD-59CA-A7CC-A366F83BBD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9841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sp>
        <p:nvSpPr>
          <p:cNvPr id="3" name="Symbol zastępczy wykresu 2"/>
          <p:cNvSpPr>
            <a:spLocks noGrp="1"/>
          </p:cNvSpPr>
          <p:nvPr>
            <p:ph type="chart" sz="quarter" idx="10"/>
          </p:nvPr>
        </p:nvSpPr>
        <p:spPr>
          <a:xfrm>
            <a:off x="887865" y="2704770"/>
            <a:ext cx="3514725" cy="305911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9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523021" y="1476742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pic>
        <p:nvPicPr>
          <p:cNvPr id="12" name="Obraz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5" name="Łącznik prosty 14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EFD037DE-3434-3F3E-98A6-0FCAF54C0C3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8F09868-EA0D-470B-BF0C-E126BA288F8A}" type="datetime1">
              <a:rPr lang="pl-PL" smtClean="0"/>
              <a:t>25.01.2026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8FB0A37-8858-B465-AEF0-23747BDF67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859B08AD-3739-73CE-40E4-9D82804E30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33818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iekt 6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323268196"/>
              </p:ext>
            </p:extLst>
          </p:nvPr>
        </p:nvGraphicFramePr>
        <p:xfrm>
          <a:off x="841375" y="2517775"/>
          <a:ext cx="4719638" cy="201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rkusz" r:id="rId2" imgW="3057635" imgH="1304857" progId="Excel.Sheet.12">
                  <p:embed/>
                </p:oleObj>
              </mc:Choice>
              <mc:Fallback>
                <p:oleObj name="Arkusz" r:id="rId2" imgW="3057635" imgH="1304857" progId="Excel.Sheet.12">
                  <p:embed/>
                  <p:pic>
                    <p:nvPicPr>
                      <p:cNvPr id="7" name="Obiek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75" y="2517775"/>
                        <a:ext cx="4719638" cy="2012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003767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Kliknij, aby edytować styl</a:t>
            </a:r>
          </a:p>
        </p:txBody>
      </p:sp>
      <p:pic>
        <p:nvPicPr>
          <p:cNvPr id="14" name="Obraz 1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950720" cy="493819"/>
          </a:xfrm>
          <a:prstGeom prst="rect">
            <a:avLst/>
          </a:prstGeom>
        </p:spPr>
      </p:pic>
      <p:pic>
        <p:nvPicPr>
          <p:cNvPr id="11" name="Obraz 10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6" name="Łącznik prosty 15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FA8C916E-41BE-A032-F924-E1FD58EED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D024-4153-46A1-993A-CBCDA62F0A59}" type="datetime1">
              <a:rPr lang="pl-PL" smtClean="0"/>
              <a:t>25.01.2026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027D5F62-06C8-22C3-796F-CFA7B818C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E986EDD-087D-DAA3-7C64-846F744A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8174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sp>
        <p:nvSpPr>
          <p:cNvPr id="9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523021" y="1476742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sp>
        <p:nvSpPr>
          <p:cNvPr id="4" name="Symbol zastępczy tabeli 3"/>
          <p:cNvSpPr>
            <a:spLocks noGrp="1"/>
          </p:cNvSpPr>
          <p:nvPr>
            <p:ph type="tbl" sz="quarter" idx="12"/>
          </p:nvPr>
        </p:nvSpPr>
        <p:spPr>
          <a:xfrm>
            <a:off x="523021" y="2368428"/>
            <a:ext cx="4602163" cy="389096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cxnSp>
        <p:nvCxnSpPr>
          <p:cNvPr id="15" name="Łącznik prosty 14"/>
          <p:cNvCxnSpPr/>
          <p:nvPr userDrawn="1"/>
        </p:nvCxnSpPr>
        <p:spPr>
          <a:xfrm>
            <a:off x="3389296" y="499319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3E74FB9B-46D2-A4ED-03CE-014D224BD3A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5E21CF-DF83-4FAE-8E32-E733CBC73DC8}" type="datetime1">
              <a:rPr lang="pl-PL" smtClean="0"/>
              <a:t>25.01.2026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739FB4C2-125F-7388-01FB-22913000B24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8DD20912-2A96-C359-C59F-39FFA271CF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7" name="Obraz 6"/>
          <p:cNvPicPr>
            <a:picLocks noChangeAspect="1"/>
          </p:cNvPicPr>
          <p:nvPr userDrawn="1"/>
        </p:nvPicPr>
        <p:blipFill rotWithShape="1">
          <a:blip r:embed="rId2"/>
          <a:srcRect b="15794"/>
          <a:stretch/>
        </p:blipFill>
        <p:spPr>
          <a:xfrm>
            <a:off x="523021" y="458693"/>
            <a:ext cx="2660017" cy="52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474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1452900" y="2032438"/>
            <a:ext cx="6858000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sp>
        <p:nvSpPr>
          <p:cNvPr id="2" name="Prostokąt 1"/>
          <p:cNvSpPr/>
          <p:nvPr userDrawn="1"/>
        </p:nvSpPr>
        <p:spPr>
          <a:xfrm>
            <a:off x="0" y="4612935"/>
            <a:ext cx="2959200" cy="22510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rostokąt 12"/>
          <p:cNvSpPr/>
          <p:nvPr userDrawn="1"/>
        </p:nvSpPr>
        <p:spPr>
          <a:xfrm>
            <a:off x="2959200" y="4612935"/>
            <a:ext cx="3254400" cy="224620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rostokąt 13"/>
          <p:cNvSpPr/>
          <p:nvPr userDrawn="1"/>
        </p:nvSpPr>
        <p:spPr>
          <a:xfrm>
            <a:off x="6213600" y="4615266"/>
            <a:ext cx="2920390" cy="224620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Tytuł 1"/>
          <p:cNvSpPr txBox="1">
            <a:spLocks/>
          </p:cNvSpPr>
          <p:nvPr userDrawn="1"/>
        </p:nvSpPr>
        <p:spPr>
          <a:xfrm>
            <a:off x="714013" y="554800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6" name="Tytuł 1"/>
          <p:cNvSpPr txBox="1">
            <a:spLocks/>
          </p:cNvSpPr>
          <p:nvPr userDrawn="1"/>
        </p:nvSpPr>
        <p:spPr>
          <a:xfrm>
            <a:off x="3968413" y="554800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7" name="Tytuł 1"/>
          <p:cNvSpPr txBox="1">
            <a:spLocks/>
          </p:cNvSpPr>
          <p:nvPr userDrawn="1"/>
        </p:nvSpPr>
        <p:spPr>
          <a:xfrm>
            <a:off x="7105812" y="554800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pic>
        <p:nvPicPr>
          <p:cNvPr id="22" name="Obraz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24" name="Łącznik prosty 23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B40F1BB1-E99E-6D3D-43AA-52F2E84D5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6D20-46F7-459B-85DC-AD57DA7C96AD}" type="datetime1">
              <a:rPr lang="pl-PL" smtClean="0"/>
              <a:t>25.01.2026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728547F-681A-D16B-8A75-0E0C6858B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0AD2594-74F5-9554-1FB7-A96EF2C0D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47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3298824" y="1630249"/>
            <a:ext cx="5012075" cy="2057951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sp>
        <p:nvSpPr>
          <p:cNvPr id="2" name="Prostokąt 1"/>
          <p:cNvSpPr/>
          <p:nvPr userDrawn="1"/>
        </p:nvSpPr>
        <p:spPr>
          <a:xfrm>
            <a:off x="0" y="4310743"/>
            <a:ext cx="2959200" cy="255326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rostokąt 12"/>
          <p:cNvSpPr/>
          <p:nvPr userDrawn="1"/>
        </p:nvSpPr>
        <p:spPr>
          <a:xfrm>
            <a:off x="0" y="1630249"/>
            <a:ext cx="2959200" cy="268049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Tytuł 1"/>
          <p:cNvSpPr txBox="1">
            <a:spLocks/>
          </p:cNvSpPr>
          <p:nvPr userDrawn="1"/>
        </p:nvSpPr>
        <p:spPr>
          <a:xfrm>
            <a:off x="714013" y="554800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6" name="Tytuł 1"/>
          <p:cNvSpPr txBox="1">
            <a:spLocks/>
          </p:cNvSpPr>
          <p:nvPr userDrawn="1"/>
        </p:nvSpPr>
        <p:spPr>
          <a:xfrm>
            <a:off x="714013" y="2714175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pic>
        <p:nvPicPr>
          <p:cNvPr id="18" name="Obraz 1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20" name="Łącznik prosty 19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EECE74D-8EE5-A0F5-61CF-3639B43BA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1BF4-AF83-44E2-B485-9410C4E45EF4}" type="datetime1">
              <a:rPr lang="pl-PL" smtClean="0"/>
              <a:t>25.01.2026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2E2B89D-4650-10BB-57E7-D5EACE1DA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8C37AA8-9A99-C082-9520-84D53092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644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747486" y="2618438"/>
            <a:ext cx="4486914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sp>
        <p:nvSpPr>
          <p:cNvPr id="2" name="Prostokąt 1"/>
          <p:cNvSpPr/>
          <p:nvPr userDrawn="1"/>
        </p:nvSpPr>
        <p:spPr>
          <a:xfrm>
            <a:off x="5457370" y="1490510"/>
            <a:ext cx="3686629" cy="263509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rostokąt 13"/>
          <p:cNvSpPr/>
          <p:nvPr userDrawn="1"/>
        </p:nvSpPr>
        <p:spPr>
          <a:xfrm>
            <a:off x="5457370" y="4125600"/>
            <a:ext cx="3676620" cy="273587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Tytuł 1"/>
          <p:cNvSpPr txBox="1">
            <a:spLocks/>
          </p:cNvSpPr>
          <p:nvPr userDrawn="1"/>
        </p:nvSpPr>
        <p:spPr>
          <a:xfrm>
            <a:off x="6682696" y="257868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7" name="Tytuł 1"/>
          <p:cNvSpPr txBox="1">
            <a:spLocks/>
          </p:cNvSpPr>
          <p:nvPr userDrawn="1"/>
        </p:nvSpPr>
        <p:spPr>
          <a:xfrm>
            <a:off x="6677692" y="5337141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21" name="Tytuł 1"/>
          <p:cNvSpPr txBox="1">
            <a:spLocks/>
          </p:cNvSpPr>
          <p:nvPr userDrawn="1"/>
        </p:nvSpPr>
        <p:spPr>
          <a:xfrm>
            <a:off x="0" y="1490510"/>
            <a:ext cx="5457369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Kliknij, aby edytować styl</a:t>
            </a:r>
          </a:p>
        </p:txBody>
      </p:sp>
      <p:pic>
        <p:nvPicPr>
          <p:cNvPr id="19" name="Obraz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22" name="Łącznik prosty 21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515505E-BA7F-6E40-EC4C-421A6B2B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EE54-9E7F-460F-84AE-9E88A3CCB9F8}" type="datetime1">
              <a:rPr lang="pl-PL" smtClean="0"/>
              <a:t>25.01.2026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07FB68A-C7AB-1195-FF68-D6C831AFC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191C99B-0A03-18DA-CA32-A9D1B7DC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57733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747486" y="2618438"/>
            <a:ext cx="4486914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sp>
        <p:nvSpPr>
          <p:cNvPr id="17" name="Tytuł 1"/>
          <p:cNvSpPr txBox="1">
            <a:spLocks/>
          </p:cNvSpPr>
          <p:nvPr userDrawn="1"/>
        </p:nvSpPr>
        <p:spPr>
          <a:xfrm>
            <a:off x="6677692" y="5337141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+mn-lt"/>
              </a:rPr>
              <a:t>foto</a:t>
            </a:r>
          </a:p>
        </p:txBody>
      </p:sp>
      <p:sp>
        <p:nvSpPr>
          <p:cNvPr id="10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sp>
        <p:nvSpPr>
          <p:cNvPr id="11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523021" y="1476742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sp>
        <p:nvSpPr>
          <p:cNvPr id="4" name="Symbol zastępczy obrazu online 3"/>
          <p:cNvSpPr>
            <a:spLocks noGrp="1"/>
          </p:cNvSpPr>
          <p:nvPr>
            <p:ph type="clipArt" sz="quarter" idx="12"/>
          </p:nvPr>
        </p:nvSpPr>
        <p:spPr>
          <a:xfrm>
            <a:off x="5427256" y="1439863"/>
            <a:ext cx="3716743" cy="2616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16" name="Symbol zastępczy obrazu online 3"/>
          <p:cNvSpPr>
            <a:spLocks noGrp="1"/>
          </p:cNvSpPr>
          <p:nvPr>
            <p:ph type="clipArt" sz="quarter" idx="13"/>
          </p:nvPr>
        </p:nvSpPr>
        <p:spPr>
          <a:xfrm>
            <a:off x="5412703" y="4134338"/>
            <a:ext cx="3716743" cy="271236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pic>
        <p:nvPicPr>
          <p:cNvPr id="19" name="Obraz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21" name="Łącznik prosty 20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C8C8AB3-B3F2-2345-7FAB-57873D6F1E4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FCF57A-7900-4914-AE7C-DDD410F0E7BE}" type="datetime1">
              <a:rPr lang="pl-PL" smtClean="0"/>
              <a:t>25.01.2026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6BCB4726-A7B2-9248-CD8C-820448FCBBB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FD7F8959-46C0-B76C-0C1B-4F4D5CEE7D7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3900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aokrąglony prostokąt 12"/>
          <p:cNvSpPr/>
          <p:nvPr/>
        </p:nvSpPr>
        <p:spPr>
          <a:xfrm>
            <a:off x="1553262" y="4163012"/>
            <a:ext cx="6214358" cy="974838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17" name="Zaokrąglony prostokąt 15"/>
          <p:cNvSpPr/>
          <p:nvPr/>
        </p:nvSpPr>
        <p:spPr>
          <a:xfrm>
            <a:off x="1542952" y="2281288"/>
            <a:ext cx="6214358" cy="861477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20" name="Zaokrąglony prostokąt 18"/>
          <p:cNvSpPr/>
          <p:nvPr/>
        </p:nvSpPr>
        <p:spPr>
          <a:xfrm>
            <a:off x="1548472" y="3239588"/>
            <a:ext cx="6214358" cy="814387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23" name="Zaokrąglony prostokąt 21"/>
          <p:cNvSpPr/>
          <p:nvPr/>
        </p:nvSpPr>
        <p:spPr>
          <a:xfrm>
            <a:off x="1542952" y="1301624"/>
            <a:ext cx="6214358" cy="875428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26" name="Zaokrąglony prostokąt 24"/>
          <p:cNvSpPr/>
          <p:nvPr userDrawn="1"/>
        </p:nvSpPr>
        <p:spPr>
          <a:xfrm>
            <a:off x="1540562" y="5250193"/>
            <a:ext cx="6214358" cy="875428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sz="quarter" idx="10"/>
          </p:nvPr>
        </p:nvSpPr>
        <p:spPr>
          <a:xfrm>
            <a:off x="1836126" y="1579564"/>
            <a:ext cx="4916488" cy="4619625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  <a:p>
            <a:pPr lvl="0"/>
            <a:endParaRPr lang="pl-PL"/>
          </a:p>
          <a:p>
            <a:pPr lvl="0"/>
            <a:endParaRPr lang="pl-PL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/>
              <a:t>Kliknij, aby edytować style wzorca tekstu</a:t>
            </a:r>
          </a:p>
          <a:p>
            <a:pPr lvl="0"/>
            <a:endParaRPr lang="pl-PL"/>
          </a:p>
          <a:p>
            <a:pPr lvl="0"/>
            <a:endParaRPr lang="pl-PL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/>
              <a:t>Kliknij, aby edytować style wzorca tekstu</a:t>
            </a:r>
          </a:p>
          <a:p>
            <a:pPr lvl="0"/>
            <a:endParaRPr lang="pl-PL"/>
          </a:p>
          <a:p>
            <a:pPr lvl="0"/>
            <a:endParaRPr lang="pl-PL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/>
              <a:t>Kliknij, aby edytować style wzorca tekstu</a:t>
            </a:r>
          </a:p>
          <a:p>
            <a:pPr lvl="0"/>
            <a:endParaRPr lang="pl-PL"/>
          </a:p>
          <a:p>
            <a:pPr lvl="0"/>
            <a:endParaRPr lang="pl-PL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/>
              <a:t>Kliknij, aby edytować style wzorca tekstu</a:t>
            </a:r>
          </a:p>
        </p:txBody>
      </p:sp>
      <p:pic>
        <p:nvPicPr>
          <p:cNvPr id="15" name="Obraz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sp>
        <p:nvSpPr>
          <p:cNvPr id="16" name="Tytuł 1"/>
          <p:cNvSpPr txBox="1">
            <a:spLocks/>
          </p:cNvSpPr>
          <p:nvPr userDrawn="1"/>
        </p:nvSpPr>
        <p:spPr>
          <a:xfrm>
            <a:off x="4695453" y="536729"/>
            <a:ext cx="4297347" cy="2816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pl-PL"/>
              <a:t>Podsumowanie</a:t>
            </a:r>
          </a:p>
        </p:txBody>
      </p:sp>
      <p:cxnSp>
        <p:nvCxnSpPr>
          <p:cNvPr id="18" name="Łącznik prosty 17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6287EFA-997B-04EF-C244-95A37F5083D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D4FC2D7-C61E-4809-9D8A-C270DB238ECB}" type="datetime1">
              <a:rPr lang="pl-PL" smtClean="0"/>
              <a:t>25.01.2026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08D0279-0067-8611-326A-667FF73EEAF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5E0F2E6-492F-0704-A4C6-AE67E7F185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21877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99325" y="1887739"/>
            <a:ext cx="4010984" cy="308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3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F2FB1-5F0D-450F-B1E2-4401688DB042}" type="datetime1">
              <a:rPr lang="pl-PL" smtClean="0"/>
              <a:t>25.01.2026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E4E4C-188F-43B4-9E25-398DACDF1415}" type="slidenum">
              <a:rPr lang="pl-PL" smtClean="0"/>
              <a:pPr/>
              <a:t>‹#›</a:t>
            </a:fld>
            <a:endParaRPr lang="pl-PL" sz="1200" dirty="0"/>
          </a:p>
        </p:txBody>
      </p:sp>
    </p:spTree>
    <p:extLst>
      <p:ext uri="{BB962C8B-B14F-4D97-AF65-F5344CB8AC3E}">
        <p14:creationId xmlns:p14="http://schemas.microsoft.com/office/powerpoint/2010/main" val="269079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5" r:id="rId2"/>
    <p:sldLayoutId id="2147483706" r:id="rId3"/>
    <p:sldLayoutId id="2147483688" r:id="rId4"/>
    <p:sldLayoutId id="2147483701" r:id="rId5"/>
    <p:sldLayoutId id="2147483702" r:id="rId6"/>
    <p:sldLayoutId id="2147483699" r:id="rId7"/>
    <p:sldLayoutId id="2147483703" r:id="rId8"/>
    <p:sldLayoutId id="2147483687" r:id="rId9"/>
    <p:sldLayoutId id="2147483700" r:id="rId10"/>
    <p:sldLayoutId id="2147483697" r:id="rId11"/>
    <p:sldLayoutId id="2147483705" r:id="rId12"/>
    <p:sldLayoutId id="2147483704" r:id="rId13"/>
    <p:sldLayoutId id="2147483698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432800" y="3682282"/>
            <a:ext cx="6278400" cy="1044994"/>
          </a:xfrm>
        </p:spPr>
        <p:txBody>
          <a:bodyPr/>
          <a:lstStyle/>
          <a:p>
            <a:r>
              <a:rPr lang="pl-PL" dirty="0"/>
              <a:t>ID-355 Radiowy system detekcji i identyfikacji obecności użytkowników 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sz="quarter" idx="10"/>
          </p:nvPr>
        </p:nvSpPr>
        <p:spPr>
          <a:xfrm>
            <a:off x="1463027" y="5615472"/>
            <a:ext cx="6278400" cy="6645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dirty="0"/>
              <a:t>Katedra Systemów i Sieci Radiokomunikacyjnych</a:t>
            </a:r>
          </a:p>
          <a:p>
            <a:r>
              <a:rPr lang="pl-PL" dirty="0">
                <a:latin typeface="Arial"/>
                <a:cs typeface="Arial"/>
              </a:rPr>
              <a:t>Opiekun - dr inż. Krzysztof </a:t>
            </a:r>
            <a:r>
              <a:rPr lang="pl-PL" dirty="0" err="1">
                <a:latin typeface="Arial"/>
                <a:cs typeface="Arial"/>
              </a:rPr>
              <a:t>Cwalina</a:t>
            </a:r>
            <a:endParaRPr lang="pl-PL" dirty="0">
              <a:latin typeface="Arial"/>
              <a:cs typeface="Arial"/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24A6740-7342-367C-AF30-0DC64D6D3AC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 bwMode="hidden">
          <a:xfrm>
            <a:off x="6457950" y="6383654"/>
            <a:ext cx="1825611" cy="261610"/>
          </a:xfrm>
          <a:effectLst>
            <a:outerShdw blurRad="63500" dist="38100" dir="2700000">
              <a:srgbClr val="000000">
                <a:alpha val="40000"/>
              </a:srgbClr>
            </a:outerShdw>
            <a:reflection stA="40000" endPos="54000" dist="50800" dir="5400000" sy="-100000" algn="bl" rotWithShape="0"/>
          </a:effectLst>
        </p:spPr>
        <p:txBody>
          <a:bodyPr>
            <a:spAutoFit/>
          </a:bodyPr>
          <a:lstStyle/>
          <a:p>
            <a:fld id="{4A8E4E4C-188F-43B4-9E25-398DACDF1415}" type="slidenum">
              <a:rPr lang="pl-PL" sz="1100" dirty="0" smtClean="0"/>
              <a:pPr/>
              <a:t>1</a:t>
            </a:fld>
            <a:endParaRPr lang="pl-PL" sz="1100" dirty="0"/>
          </a:p>
        </p:txBody>
      </p:sp>
    </p:spTree>
    <p:extLst>
      <p:ext uri="{BB962C8B-B14F-4D97-AF65-F5344CB8AC3E}">
        <p14:creationId xmlns:p14="http://schemas.microsoft.com/office/powerpoint/2010/main" val="3260126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5C0BB-5017-C3E3-DCB6-848BA50D1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F17FD2-4836-19BE-589C-35D601D7D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9001" y="593334"/>
            <a:ext cx="4210947" cy="281637"/>
          </a:xfrm>
        </p:spPr>
        <p:txBody>
          <a:bodyPr/>
          <a:lstStyle/>
          <a:p>
            <a:r>
              <a:rPr lang="pl-PL" sz="2400" dirty="0"/>
              <a:t>Zespół projektowy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E60BD4D-A4F5-011A-B6CE-5242A39D0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392" y="2811069"/>
            <a:ext cx="8169215" cy="30880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400" dirty="0">
                <a:latin typeface="Arial"/>
                <a:cs typeface="Arial"/>
              </a:rPr>
              <a:t>Mateusz </a:t>
            </a:r>
            <a:r>
              <a:rPr lang="pl-PL" sz="2400" dirty="0" err="1">
                <a:latin typeface="Arial"/>
                <a:cs typeface="Arial"/>
              </a:rPr>
              <a:t>Chorębała</a:t>
            </a:r>
            <a:r>
              <a:rPr lang="pl-PL" sz="2400" dirty="0">
                <a:latin typeface="Arial"/>
                <a:cs typeface="Arial"/>
              </a:rPr>
              <a:t> 198306 – kierownik zespołu</a:t>
            </a:r>
          </a:p>
          <a:p>
            <a:r>
              <a:rPr lang="pl-PL" sz="2400" dirty="0">
                <a:latin typeface="Arial"/>
                <a:cs typeface="Arial"/>
              </a:rPr>
              <a:t>Mateusz Moćko 197675</a:t>
            </a:r>
          </a:p>
          <a:p>
            <a:r>
              <a:rPr lang="pl-PL" sz="2400" dirty="0">
                <a:latin typeface="Arial"/>
                <a:cs typeface="Arial"/>
              </a:rPr>
              <a:t>Mateusz Zakrzewski 197830</a:t>
            </a:r>
          </a:p>
          <a:p>
            <a:r>
              <a:rPr lang="pl-PL" sz="2400" dirty="0">
                <a:latin typeface="Arial"/>
                <a:cs typeface="Arial"/>
              </a:rPr>
              <a:t>Adam </a:t>
            </a:r>
            <a:r>
              <a:rPr lang="pl-PL" sz="2400" dirty="0" err="1">
                <a:latin typeface="Arial"/>
                <a:cs typeface="Arial"/>
              </a:rPr>
              <a:t>Kutysz</a:t>
            </a:r>
            <a:r>
              <a:rPr lang="pl-PL" sz="2400" dirty="0">
                <a:latin typeface="Arial"/>
                <a:cs typeface="Arial"/>
              </a:rPr>
              <a:t> 197758</a:t>
            </a:r>
          </a:p>
          <a:p>
            <a:r>
              <a:rPr lang="pl-PL" sz="2400" dirty="0">
                <a:latin typeface="Arial"/>
                <a:cs typeface="Arial"/>
              </a:rPr>
              <a:t>Tomasz Witkowski 198010</a:t>
            </a:r>
          </a:p>
          <a:p>
            <a:endParaRPr lang="pl-PL" sz="1800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D23120A-53C1-3A5F-6950-7AB819C079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4009" y="1575602"/>
            <a:ext cx="4721840" cy="534836"/>
          </a:xfrm>
        </p:spPr>
        <p:txBody>
          <a:bodyPr>
            <a:normAutofit/>
          </a:bodyPr>
          <a:lstStyle/>
          <a:p>
            <a:r>
              <a:rPr lang="pl-PL" sz="2800"/>
              <a:t>Członkowie zespołu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4AC0D35-4F32-ABF2-1FD1-AA4AAB09E4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z="1100" smtClean="0"/>
              <a:pPr/>
              <a:t>2</a:t>
            </a:fld>
            <a:endParaRPr lang="pl-PL" sz="1100"/>
          </a:p>
        </p:txBody>
      </p:sp>
    </p:spTree>
    <p:extLst>
      <p:ext uri="{BB962C8B-B14F-4D97-AF65-F5344CB8AC3E}">
        <p14:creationId xmlns:p14="http://schemas.microsoft.com/office/powerpoint/2010/main" val="2168838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D1C4-0FC5-98FD-8214-0DE5422DC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0053" y="598459"/>
            <a:ext cx="4210947" cy="281637"/>
          </a:xfrm>
        </p:spPr>
        <p:txBody>
          <a:bodyPr/>
          <a:lstStyle/>
          <a:p>
            <a:r>
              <a:rPr lang="pl-PL" sz="2400"/>
              <a:t>Agenda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96C24-54B0-58DB-AAA6-9E39D4A8C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17296"/>
            <a:ext cx="6858000" cy="31608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400" dirty="0">
                <a:latin typeface="Arial"/>
                <a:cs typeface="Arial"/>
              </a:rPr>
              <a:t>Cel projektu</a:t>
            </a:r>
          </a:p>
          <a:p>
            <a:r>
              <a:rPr lang="pl-PL" sz="2400" dirty="0">
                <a:latin typeface="Arial"/>
                <a:cs typeface="Arial"/>
              </a:rPr>
              <a:t>Założenia</a:t>
            </a:r>
          </a:p>
          <a:p>
            <a:r>
              <a:rPr lang="pl-PL" sz="2400" dirty="0">
                <a:latin typeface="Arial"/>
                <a:cs typeface="Arial"/>
              </a:rPr>
              <a:t>Elementy systemu i podział obowiązków</a:t>
            </a:r>
          </a:p>
          <a:p>
            <a:r>
              <a:rPr lang="pl-PL" sz="2400" dirty="0">
                <a:latin typeface="Arial"/>
                <a:cs typeface="Arial"/>
              </a:rPr>
              <a:t>Osiągnięte wyniki</a:t>
            </a:r>
          </a:p>
          <a:p>
            <a:r>
              <a:rPr lang="pl-PL" sz="2400" dirty="0">
                <a:latin typeface="Arial"/>
                <a:cs typeface="Arial"/>
              </a:rPr>
              <a:t>Kierunek przyszłych prac</a:t>
            </a:r>
          </a:p>
          <a:p>
            <a:endParaRPr lang="pl-P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65A67-298B-DF37-3938-280679B426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486" y="1611862"/>
            <a:ext cx="4189412" cy="664234"/>
          </a:xfrm>
        </p:spPr>
        <p:txBody>
          <a:bodyPr>
            <a:normAutofit/>
          </a:bodyPr>
          <a:lstStyle/>
          <a:p>
            <a:r>
              <a:rPr lang="pl-PL" sz="2800"/>
              <a:t>Plan prezentacji</a:t>
            </a:r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B01854B-ACA9-68F3-E3A1-6AC6ED02830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8846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820067" y="593334"/>
            <a:ext cx="4210947" cy="281637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Cel i założenia projektu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947928" y="2907264"/>
            <a:ext cx="6940296" cy="30880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400">
                <a:latin typeface="Arial"/>
                <a:cs typeface="Arial"/>
              </a:rPr>
              <a:t>Do celu projektu należy opracowanie, zrealizowanie oraz przeprowadzenie testów radiowego systemu detekcji i identyfikacji obecności na podstawie zarejestrowanych sygnatur radiowych dostępnych sygnałów okazjonalnych (sieci komórkowych, sieci Wi-Fi)</a:t>
            </a:r>
            <a:endParaRPr lang="pl-PL" sz="3200">
              <a:latin typeface="Arial"/>
              <a:cs typeface="Arial"/>
            </a:endParaRP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382588" y="1639443"/>
            <a:ext cx="4189412" cy="503349"/>
          </a:xfrm>
        </p:spPr>
        <p:txBody>
          <a:bodyPr>
            <a:normAutofit/>
          </a:bodyPr>
          <a:lstStyle/>
          <a:p>
            <a:r>
              <a:rPr lang="pl-PL" sz="2800"/>
              <a:t>Cel Projektu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37B4E63-0B6B-49E3-2459-4225D9DC99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8836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89BAE7-66B7-8421-9155-BFABF5E4F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17297"/>
            <a:ext cx="6858000" cy="33074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400" dirty="0">
                <a:latin typeface="Arial"/>
                <a:cs typeface="Arial"/>
              </a:rPr>
              <a:t>Detekcja obecności opiera się porównaniu mocy odebranych sygnałów okazjonalnych przez urządzenie mobilne, do wzorca charakterystycznego dla danego miejsca który jest zapisany w bazie danych.</a:t>
            </a:r>
          </a:p>
          <a:p>
            <a:r>
              <a:rPr lang="pl-PL" sz="2400" dirty="0">
                <a:latin typeface="Arial"/>
                <a:cs typeface="Arial"/>
              </a:rPr>
              <a:t>Dopasowanie punktu pomiarowego do fizycznej lokacji z użyciem algorytmu dopasowującego</a:t>
            </a:r>
            <a:endParaRPr lang="pl-PL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157D7-97CB-6F19-F39A-FE81874BDB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588" y="1618748"/>
            <a:ext cx="4189412" cy="710383"/>
          </a:xfrm>
        </p:spPr>
        <p:txBody>
          <a:bodyPr>
            <a:normAutofit/>
          </a:bodyPr>
          <a:lstStyle/>
          <a:p>
            <a:r>
              <a:rPr lang="pl-PL" sz="2800"/>
              <a:t>Detekcja obecności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D7AC35-A001-D023-74C1-3C16D3D3F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0053" y="485117"/>
            <a:ext cx="4210947" cy="491706"/>
          </a:xfrm>
        </p:spPr>
        <p:txBody>
          <a:bodyPr/>
          <a:lstStyle/>
          <a:p>
            <a:r>
              <a:rPr lang="pl-PL" sz="2400" dirty="0"/>
              <a:t>Cel i założenia projektu</a:t>
            </a:r>
          </a:p>
        </p:txBody>
      </p:sp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EDA6F87B-232D-BA92-CB9E-55C252B29C5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06994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874415" y="590693"/>
            <a:ext cx="4210947" cy="281637"/>
          </a:xfrm>
        </p:spPr>
        <p:txBody>
          <a:bodyPr/>
          <a:lstStyle/>
          <a:p>
            <a:r>
              <a:rPr lang="pl-PL" sz="2400" dirty="0"/>
              <a:t>Cel i założenia projektu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487392" y="2794216"/>
            <a:ext cx="8169215" cy="378386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400" dirty="0">
                <a:latin typeface="Arial"/>
                <a:cs typeface="Arial"/>
              </a:rPr>
              <a:t>Odbieranie sygnałów okazjonalnych – Mateusz Moćko, Mateusz </a:t>
            </a:r>
            <a:r>
              <a:rPr lang="pl-PL" sz="2400" dirty="0" err="1">
                <a:latin typeface="Arial"/>
                <a:cs typeface="Arial"/>
              </a:rPr>
              <a:t>Chorębała</a:t>
            </a:r>
            <a:endParaRPr lang="pl-PL" sz="2400" dirty="0">
              <a:latin typeface="Arial"/>
              <a:cs typeface="Arial"/>
            </a:endParaRPr>
          </a:p>
          <a:p>
            <a:r>
              <a:rPr lang="pl-PL" sz="2400" dirty="0">
                <a:latin typeface="Arial"/>
                <a:cs typeface="Arial"/>
              </a:rPr>
              <a:t>Akwizycja i analiza danych pomiarowych – Tomasz Witkowski</a:t>
            </a:r>
          </a:p>
          <a:p>
            <a:r>
              <a:rPr lang="pl-PL" sz="2400" dirty="0">
                <a:latin typeface="Arial"/>
                <a:cs typeface="Arial"/>
              </a:rPr>
              <a:t>Protokół komunikacyjny między urządzeniem mobilnym i serwerem - Adam </a:t>
            </a:r>
            <a:r>
              <a:rPr lang="pl-PL" sz="2400" dirty="0" err="1">
                <a:latin typeface="Arial"/>
                <a:cs typeface="Arial"/>
              </a:rPr>
              <a:t>Kutysz</a:t>
            </a:r>
            <a:endParaRPr lang="pl-PL" sz="2400" dirty="0">
              <a:latin typeface="Arial"/>
              <a:cs typeface="Arial"/>
            </a:endParaRPr>
          </a:p>
          <a:p>
            <a:r>
              <a:rPr lang="pl-PL" sz="2400" dirty="0">
                <a:latin typeface="Arial"/>
                <a:cs typeface="Arial"/>
              </a:rPr>
              <a:t>Serwer z dostępem webowym - Mateusz Zakrzewski</a:t>
            </a:r>
          </a:p>
          <a:p>
            <a:r>
              <a:rPr lang="pl-PL" sz="2400" dirty="0">
                <a:latin typeface="Arial"/>
                <a:cs typeface="Arial"/>
              </a:rPr>
              <a:t>Przetworzenie danych wewnątrz serwera – Mateusz Moćko, Tomasz Witkowski</a:t>
            </a:r>
          </a:p>
          <a:p>
            <a:endParaRPr lang="pl-PL" sz="2400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427007" y="1618749"/>
            <a:ext cx="7930866" cy="406715"/>
          </a:xfrm>
        </p:spPr>
        <p:txBody>
          <a:bodyPr>
            <a:noAutofit/>
          </a:bodyPr>
          <a:lstStyle/>
          <a:p>
            <a:r>
              <a:rPr lang="pl-PL" sz="2800"/>
              <a:t>Elementy systemu oraz podział zadań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EB598EA-702C-37BF-80C2-891D970CA8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78882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870242" y="584464"/>
            <a:ext cx="4210947" cy="281637"/>
          </a:xfrm>
        </p:spPr>
        <p:txBody>
          <a:bodyPr/>
          <a:lstStyle/>
          <a:p>
            <a:r>
              <a:rPr lang="pl-PL" sz="2400" dirty="0"/>
              <a:t>Cel i założenia projektu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376372" y="1628745"/>
            <a:ext cx="6818058" cy="406715"/>
          </a:xfrm>
        </p:spPr>
        <p:txBody>
          <a:bodyPr>
            <a:noAutofit/>
          </a:bodyPr>
          <a:lstStyle/>
          <a:p>
            <a:r>
              <a:rPr lang="pl-PL" sz="2800"/>
              <a:t>Schemat ideowy systemu</a:t>
            </a:r>
          </a:p>
        </p:txBody>
      </p:sp>
      <p:sp>
        <p:nvSpPr>
          <p:cNvPr id="6" name="Symbol zastępczy tekstu 3">
            <a:extLst>
              <a:ext uri="{FF2B5EF4-FFF2-40B4-BE49-F238E27FC236}">
                <a16:creationId xmlns:a16="http://schemas.microsoft.com/office/drawing/2014/main" id="{E24A561E-9E40-12EC-99CD-76493A9A3546}"/>
              </a:ext>
            </a:extLst>
          </p:cNvPr>
          <p:cNvSpPr txBox="1">
            <a:spLocks/>
          </p:cNvSpPr>
          <p:nvPr/>
        </p:nvSpPr>
        <p:spPr>
          <a:xfrm>
            <a:off x="1658988" y="6338310"/>
            <a:ext cx="5826020" cy="4067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pl-PL" sz="18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>
                <a:solidFill>
                  <a:schemeClr val="tx1"/>
                </a:solidFill>
                <a:latin typeface="Arial"/>
                <a:cs typeface="Arial"/>
              </a:rPr>
              <a:t>Rys. 2 – Schemat ideowy projektowanego systemu</a:t>
            </a:r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24ED955-F096-0D8C-68F2-5D7E2AD0A5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7</a:t>
            </a:fld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DD18AF-9A22-5A9B-B837-1A5E8972C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5" y="2512022"/>
            <a:ext cx="8801226" cy="371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2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E5D4D-8A54-BDA4-88D0-BBEA4EFB6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1494" y="501307"/>
            <a:ext cx="4201094" cy="419586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Cel i założenia projektu</a:t>
            </a:r>
            <a:endParaRPr lang="en-US" sz="24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48974-B924-28F5-A1AF-1B58DC54F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21" y="2452721"/>
            <a:ext cx="7882757" cy="329143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400" dirty="0">
                <a:latin typeface="Arial"/>
                <a:cs typeface="Arial"/>
              </a:rPr>
              <a:t>W projekcie wykorzystywane są sygnały okazjonalne pochodzące z uczelnianej sieci </a:t>
            </a:r>
            <a:r>
              <a:rPr lang="pl-PL" sz="2400" dirty="0" err="1">
                <a:latin typeface="Arial"/>
                <a:cs typeface="Arial"/>
              </a:rPr>
              <a:t>Eduroam</a:t>
            </a:r>
            <a:r>
              <a:rPr lang="pl-PL" sz="2400" dirty="0">
                <a:latin typeface="Arial"/>
                <a:cs typeface="Arial"/>
              </a:rPr>
              <a:t>.</a:t>
            </a:r>
          </a:p>
          <a:p>
            <a:r>
              <a:rPr lang="pl-PL" sz="2400" dirty="0">
                <a:latin typeface="Arial"/>
                <a:cs typeface="Arial"/>
              </a:rPr>
              <a:t>Sygnały okazjonalne – pochodzą z sieci istniejących niezależnie od projektowanego systemu</a:t>
            </a:r>
          </a:p>
          <a:p>
            <a:r>
              <a:rPr lang="pl-PL" sz="2400" dirty="0">
                <a:latin typeface="Arial"/>
                <a:cs typeface="Arial"/>
              </a:rPr>
              <a:t>Pasmo pracy w ramach badanego środowiska sieci – 5 GHz</a:t>
            </a:r>
            <a:endParaRPr lang="pl-PL" sz="2400" dirty="0"/>
          </a:p>
          <a:p>
            <a:r>
              <a:rPr lang="pl-PL" sz="2400" dirty="0">
                <a:latin typeface="Arial"/>
                <a:cs typeface="Arial"/>
              </a:rPr>
              <a:t>Zaleta sieci: gęste rozmieszczenie routerów </a:t>
            </a:r>
            <a:endParaRPr lang="pl-PL" sz="2400" dirty="0"/>
          </a:p>
          <a:p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A9CEB-1E2B-26ED-345B-2B385B0745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219" y="1599078"/>
            <a:ext cx="6623213" cy="3870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 err="1">
                <a:latin typeface="Arial"/>
                <a:cs typeface="Arial"/>
              </a:rPr>
              <a:t>Wykorzystywana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 err="1">
                <a:latin typeface="Arial"/>
                <a:cs typeface="Arial"/>
              </a:rPr>
              <a:t>sieć</a:t>
            </a:r>
            <a:r>
              <a:rPr lang="en-US" sz="2800" dirty="0">
                <a:latin typeface="Arial"/>
                <a:cs typeface="Arial"/>
              </a:rPr>
              <a:t> - </a:t>
            </a:r>
            <a:r>
              <a:rPr lang="en-US" sz="2800" dirty="0" err="1">
                <a:latin typeface="Arial"/>
                <a:cs typeface="Arial"/>
              </a:rPr>
              <a:t>Eduroam</a:t>
            </a:r>
            <a:r>
              <a:rPr lang="en-US" sz="2800" dirty="0">
                <a:latin typeface="Arial"/>
                <a:cs typeface="Arial"/>
              </a:rPr>
              <a:t> </a:t>
            </a:r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99C8F0-9F42-0821-6D2D-D3415F0F234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1067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2C3D9-21AF-4C66-BF7A-2EC58C3BB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5320" y="457712"/>
            <a:ext cx="4201094" cy="606800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Cel i założenia projektu</a:t>
            </a:r>
            <a:endParaRPr lang="en-US" sz="24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B6D82-4DA0-B608-D915-5F3138790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517142"/>
            <a:ext cx="6858000" cy="6774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 err="1">
                <a:latin typeface="Arial"/>
                <a:cs typeface="Arial"/>
              </a:rPr>
              <a:t>Rys</a:t>
            </a:r>
            <a:r>
              <a:rPr lang="en-US" dirty="0">
                <a:latin typeface="Arial"/>
                <a:cs typeface="Arial"/>
              </a:rPr>
              <a:t>. 1 – </a:t>
            </a:r>
            <a:r>
              <a:rPr lang="en-US" dirty="0" err="1">
                <a:latin typeface="Arial"/>
                <a:cs typeface="Arial"/>
              </a:rPr>
              <a:t>Rozmieszczenie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routerów</a:t>
            </a:r>
            <a:r>
              <a:rPr lang="en-US" dirty="0">
                <a:latin typeface="Arial"/>
                <a:cs typeface="Arial"/>
              </a:rPr>
              <a:t> w </a:t>
            </a:r>
            <a:r>
              <a:rPr lang="en-US" dirty="0" err="1">
                <a:latin typeface="Arial"/>
                <a:cs typeface="Arial"/>
              </a:rPr>
              <a:t>badanym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obszarze</a:t>
            </a:r>
            <a:r>
              <a:rPr lang="pl-PL" dirty="0">
                <a:latin typeface="Arial"/>
                <a:cs typeface="Arial"/>
              </a:rPr>
              <a:t> – zrzut ekranu menadżera </a:t>
            </a:r>
            <a:r>
              <a:rPr lang="pl-PL" dirty="0" err="1">
                <a:latin typeface="Arial"/>
                <a:cs typeface="Arial"/>
              </a:rPr>
              <a:t>access</a:t>
            </a:r>
            <a:r>
              <a:rPr lang="pl-PL" dirty="0">
                <a:latin typeface="Arial"/>
                <a:cs typeface="Arial"/>
              </a:rPr>
              <a:t> point</a:t>
            </a:r>
            <a:r>
              <a:rPr lang="en-US" dirty="0">
                <a:latin typeface="Arial"/>
                <a:cs typeface="Arial"/>
              </a:rPr>
              <a:t>ó</a:t>
            </a:r>
            <a:r>
              <a:rPr lang="pl-PL" dirty="0">
                <a:latin typeface="Arial"/>
                <a:cs typeface="Arial"/>
              </a:rPr>
              <a:t>w </a:t>
            </a:r>
            <a:r>
              <a:rPr lang="pl-PL" dirty="0" err="1">
                <a:latin typeface="Arial"/>
                <a:cs typeface="Arial"/>
              </a:rPr>
              <a:t>eduroam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736C2-7E5C-1F2C-BDAA-8D8E47F489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5952" y="1608931"/>
            <a:ext cx="6859696" cy="5151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err="1">
                <a:latin typeface="Arial"/>
                <a:cs typeface="Arial"/>
              </a:rPr>
              <a:t>Wykorzystywana</a:t>
            </a:r>
            <a:r>
              <a:rPr lang="en-US" sz="2800">
                <a:latin typeface="Arial"/>
                <a:cs typeface="Arial"/>
              </a:rPr>
              <a:t> </a:t>
            </a:r>
            <a:r>
              <a:rPr lang="en-US" sz="2800" err="1">
                <a:latin typeface="Arial"/>
                <a:cs typeface="Arial"/>
              </a:rPr>
              <a:t>sieć</a:t>
            </a:r>
            <a:r>
              <a:rPr lang="en-US" sz="2800">
                <a:latin typeface="Arial"/>
                <a:cs typeface="Arial"/>
              </a:rPr>
              <a:t> - </a:t>
            </a:r>
            <a:r>
              <a:rPr lang="en-US" sz="2800" err="1">
                <a:latin typeface="Arial"/>
                <a:cs typeface="Arial"/>
              </a:rPr>
              <a:t>Eduroam</a:t>
            </a:r>
            <a:r>
              <a:rPr lang="en-US" sz="2800">
                <a:latin typeface="Arial"/>
                <a:cs typeface="Arial"/>
              </a:rPr>
              <a:t> </a:t>
            </a:r>
            <a:endParaRPr lang="en-US" sz="2800" b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4C9CE-069A-7E2A-1DF4-6F80CC9596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9</a:t>
            </a:fld>
            <a:endParaRPr lang="pl-P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5295BE-3EE4-ABA5-8270-532133514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45" y="2606073"/>
            <a:ext cx="8499257" cy="273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3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808428" y="547234"/>
            <a:ext cx="2950591" cy="406715"/>
          </a:xfrm>
        </p:spPr>
        <p:txBody>
          <a:bodyPr/>
          <a:lstStyle/>
          <a:p>
            <a:r>
              <a:rPr lang="pl-PL" sz="2400" dirty="0"/>
              <a:t>Elementy systemu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550404" y="2410704"/>
            <a:ext cx="4738772" cy="430485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400" dirty="0">
                <a:latin typeface="Arial"/>
                <a:cs typeface="Arial"/>
              </a:rPr>
              <a:t>Realizowane na urządzeniu typu SBC (Single Board </a:t>
            </a:r>
            <a:r>
              <a:rPr lang="pl-PL" sz="2400" dirty="0" err="1">
                <a:latin typeface="Arial"/>
                <a:cs typeface="Arial"/>
              </a:rPr>
              <a:t>Computer</a:t>
            </a:r>
            <a:r>
              <a:rPr lang="pl-PL" sz="2400" dirty="0">
                <a:latin typeface="Arial"/>
                <a:cs typeface="Arial"/>
              </a:rPr>
              <a:t>) z zewnętrzną kartą sieciową Wi-Fi</a:t>
            </a:r>
          </a:p>
          <a:p>
            <a:r>
              <a:rPr lang="pl-PL" sz="2400" dirty="0">
                <a:latin typeface="Arial"/>
                <a:cs typeface="Arial"/>
              </a:rPr>
              <a:t>Karta sieciowa – </a:t>
            </a:r>
            <a:r>
              <a:rPr lang="pl-PL" sz="2400" dirty="0" err="1">
                <a:latin typeface="Arial"/>
                <a:cs typeface="Arial"/>
              </a:rPr>
              <a:t>Netis</a:t>
            </a:r>
            <a:r>
              <a:rPr lang="pl-PL" sz="2400" dirty="0">
                <a:latin typeface="Arial"/>
                <a:cs typeface="Arial"/>
              </a:rPr>
              <a:t> AC1200 Wireless Dual Band</a:t>
            </a:r>
          </a:p>
          <a:p>
            <a:r>
              <a:rPr lang="pl-PL" sz="2400" dirty="0">
                <a:latin typeface="Arial"/>
                <a:cs typeface="Arial"/>
              </a:rPr>
              <a:t>Pasma pracy 2.4 GHz, 5 GHz.</a:t>
            </a:r>
          </a:p>
          <a:p>
            <a:r>
              <a:rPr lang="pl-PL" sz="2400" dirty="0">
                <a:latin typeface="Arial"/>
                <a:cs typeface="Arial"/>
              </a:rPr>
              <a:t>Odbieranie sygnałów okazjonalnych i zapis do pliku – oprogramowanie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380310" y="1636559"/>
            <a:ext cx="8383379" cy="494723"/>
          </a:xfrm>
        </p:spPr>
        <p:txBody>
          <a:bodyPr>
            <a:normAutofit/>
          </a:bodyPr>
          <a:lstStyle/>
          <a:p>
            <a:r>
              <a:rPr lang="pl-PL" sz="2800" dirty="0"/>
              <a:t>Urządzenie Mobilne</a:t>
            </a:r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CBF93D9C-1273-B60D-D5D0-4AB1D8D58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674" y="2414898"/>
            <a:ext cx="2657839" cy="3601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0B03423-7F2D-0DC2-EE4C-EAC27738A6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10</a:t>
            </a:fld>
            <a:endParaRPr lang="pl-PL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22139FE-6496-FF2E-3A2B-125336AB55E8}"/>
              </a:ext>
            </a:extLst>
          </p:cNvPr>
          <p:cNvSpPr txBox="1">
            <a:spLocks/>
          </p:cNvSpPr>
          <p:nvPr/>
        </p:nvSpPr>
        <p:spPr>
          <a:xfrm>
            <a:off x="5576777" y="6016873"/>
            <a:ext cx="3040912" cy="3649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E31B23"/>
              </a:buClr>
              <a:buFont typeface="Wingdings" panose="05000000000000000000" pitchFamily="2" charset="2"/>
              <a:buChar char="§"/>
              <a:defRPr sz="1600" b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>
                <a:latin typeface="Arial"/>
                <a:cs typeface="Arial"/>
              </a:rPr>
              <a:t>Rys. 3 – Urządzenie mobilne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1203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DFE2B-5759-1F75-5076-6D2D28FA8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2300" y="594587"/>
            <a:ext cx="4210947" cy="281637"/>
          </a:xfrm>
        </p:spPr>
        <p:txBody>
          <a:bodyPr/>
          <a:lstStyle/>
          <a:p>
            <a:r>
              <a:rPr lang="pl-PL" sz="2400" dirty="0"/>
              <a:t>Elementy systemu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F31E9-6A57-2DC4-0AAB-70D6B1B0A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234930"/>
            <a:ext cx="8873412" cy="1404009"/>
          </a:xfrm>
        </p:spPr>
        <p:txBody>
          <a:bodyPr>
            <a:noAutofit/>
          </a:bodyPr>
          <a:lstStyle/>
          <a:p>
            <a:pPr fontAlgn="base"/>
            <a:r>
              <a:rPr lang="pl-PL"/>
              <a:t>Skrypt napisany w języku </a:t>
            </a:r>
            <a:r>
              <a:rPr lang="pl-PL" err="1"/>
              <a:t>Python</a:t>
            </a:r>
            <a:r>
              <a:rPr lang="pl-PL" b="0"/>
              <a:t>​</a:t>
            </a:r>
          </a:p>
          <a:p>
            <a:pPr fontAlgn="base"/>
            <a:r>
              <a:rPr lang="pl-PL"/>
              <a:t>Wykorzystanie biblioteki </a:t>
            </a:r>
            <a:r>
              <a:rPr lang="pl-PL" err="1"/>
              <a:t>Scapy</a:t>
            </a:r>
            <a:r>
              <a:rPr lang="pl-PL"/>
              <a:t> do odczytu z ramki podstawowych informacji</a:t>
            </a:r>
            <a:endParaRPr lang="en-US" b="0"/>
          </a:p>
          <a:p>
            <a:pPr fontAlgn="base"/>
            <a:r>
              <a:rPr lang="pl-PL"/>
              <a:t>Eksport zebranych danych w postaci bazy danych za pomocą biblioteki sqlite3 </a:t>
            </a:r>
            <a:r>
              <a:rPr lang="en-US" b="0"/>
              <a:t>​</a:t>
            </a:r>
          </a:p>
          <a:p>
            <a:pPr fontAlgn="base"/>
            <a:r>
              <a:rPr lang="pl-PL"/>
              <a:t>Możliwość zdefiniowania m.in. interfejsu i kanałów na których ma działać skrypt </a:t>
            </a:r>
            <a:endParaRPr lang="en-US" b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23AD7-A484-6840-3053-E90F4355AA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036" y="1637510"/>
            <a:ext cx="8259927" cy="5072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800" dirty="0">
                <a:latin typeface="Arial"/>
                <a:cs typeface="Arial"/>
              </a:rPr>
              <a:t>Odbiór sygnałów – oprogramowanie 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8771C76-7B6D-12E7-A708-0351560F48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11</a:t>
            </a:fld>
            <a:endParaRPr lang="pl-PL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3675D8A-96DD-E539-DE5C-B24DC7558599}"/>
              </a:ext>
            </a:extLst>
          </p:cNvPr>
          <p:cNvSpPr txBox="1"/>
          <p:nvPr/>
        </p:nvSpPr>
        <p:spPr>
          <a:xfrm>
            <a:off x="2286000" y="6097772"/>
            <a:ext cx="4572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1600" b="1" baseline="0">
                <a:solidFill>
                  <a:srgbClr val="003767"/>
                </a:solidFill>
                <a:latin typeface="Arial"/>
              </a:rPr>
              <a:t>Rys. </a:t>
            </a:r>
            <a:r>
              <a:rPr lang="pl-PL" sz="1600" b="1">
                <a:solidFill>
                  <a:srgbClr val="003767"/>
                </a:solidFill>
                <a:latin typeface="Arial"/>
              </a:rPr>
              <a:t>4 </a:t>
            </a:r>
            <a:r>
              <a:rPr lang="pl-PL" sz="1600" b="1" baseline="0">
                <a:solidFill>
                  <a:srgbClr val="003767"/>
                </a:solidFill>
                <a:latin typeface="Arial"/>
              </a:rPr>
              <a:t>– </a:t>
            </a:r>
            <a:r>
              <a:rPr lang="pl-PL" sz="1600" b="1">
                <a:solidFill>
                  <a:srgbClr val="003767"/>
                </a:solidFill>
                <a:latin typeface="Arial"/>
              </a:rPr>
              <a:t>Przykładowy wynik wykonania kodu</a:t>
            </a:r>
            <a:endParaRPr lang="en-US" sz="1600">
              <a:latin typeface="Arial"/>
              <a:cs typeface="Arial"/>
            </a:endParaRPr>
          </a:p>
          <a:p>
            <a:pPr algn="ctr"/>
            <a:endParaRPr lang="en-US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8F86634A-1A18-8CD2-E72C-8653A83CF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899" y="3658367"/>
            <a:ext cx="6694200" cy="231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77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AC419-7FD1-D8E9-1AAB-F2F0A5F72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7986" y="579388"/>
            <a:ext cx="4210947" cy="281637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Elementy systemu</a:t>
            </a:r>
            <a:endParaRPr lang="en-US" sz="24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53F87-B0B7-8A87-090F-4A2BCD132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17298"/>
            <a:ext cx="6858000" cy="298597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400" dirty="0">
                <a:latin typeface="Arial"/>
                <a:cs typeface="Arial"/>
              </a:rPr>
              <a:t>Punkty pomiarowe zostały rozmieszczone co 2 metry.</a:t>
            </a:r>
          </a:p>
          <a:p>
            <a:r>
              <a:rPr lang="pl-PL" sz="2400" dirty="0">
                <a:latin typeface="Arial"/>
                <a:cs typeface="Arial"/>
              </a:rPr>
              <a:t>Pomiar mocy odebranego sygnału (RSSI) od wybranych </a:t>
            </a:r>
            <a:r>
              <a:rPr lang="pl-PL" sz="2400" dirty="0" err="1">
                <a:latin typeface="Arial"/>
                <a:cs typeface="Arial"/>
              </a:rPr>
              <a:t>access</a:t>
            </a:r>
            <a:r>
              <a:rPr lang="pl-PL" sz="2400" dirty="0">
                <a:latin typeface="Arial"/>
                <a:cs typeface="Arial"/>
              </a:rPr>
              <a:t> </a:t>
            </a:r>
            <a:r>
              <a:rPr lang="pl-PL" sz="2400" dirty="0" err="1">
                <a:latin typeface="Arial"/>
                <a:cs typeface="Arial"/>
              </a:rPr>
              <a:t>point'ów</a:t>
            </a:r>
            <a:r>
              <a:rPr lang="pl-PL" sz="2400" dirty="0">
                <a:latin typeface="Arial"/>
                <a:cs typeface="Arial"/>
              </a:rPr>
              <a:t> sieci</a:t>
            </a:r>
          </a:p>
          <a:p>
            <a:r>
              <a:rPr lang="pl-PL" sz="2400" dirty="0">
                <a:latin typeface="Arial"/>
                <a:cs typeface="Arial"/>
              </a:rPr>
              <a:t>AP rozróżniane są za pomocą BSSID, tj. MAC adresów</a:t>
            </a:r>
          </a:p>
          <a:p>
            <a:r>
              <a:rPr lang="pl-PL" sz="2400" dirty="0">
                <a:latin typeface="Arial"/>
                <a:cs typeface="Arial"/>
              </a:rPr>
              <a:t>Wyniki pomiarów są przechowywane w bazie danych</a:t>
            </a:r>
          </a:p>
          <a:p>
            <a:endParaRPr lang="pl-PL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8CC375-9427-A639-3209-59CB6DD332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3721" y="1414101"/>
            <a:ext cx="8623464" cy="85012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l-PL" sz="2800" dirty="0">
                <a:latin typeface="Arial"/>
                <a:cs typeface="Arial"/>
              </a:rPr>
              <a:t>Akwizycja i prezentacja danych pomiarowych sygnałów okazjonalnych</a:t>
            </a:r>
            <a:endParaRPr lang="en-US" sz="2800" b="0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290A9-3013-5D10-BD3F-76DEF27629E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0436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864990" y="589886"/>
            <a:ext cx="4210947" cy="281637"/>
          </a:xfrm>
        </p:spPr>
        <p:txBody>
          <a:bodyPr/>
          <a:lstStyle/>
          <a:p>
            <a:r>
              <a:rPr lang="pl-PL" sz="2400" dirty="0"/>
              <a:t>Elementy systemu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382588" y="1627375"/>
            <a:ext cx="4189412" cy="406715"/>
          </a:xfrm>
        </p:spPr>
        <p:txBody>
          <a:bodyPr>
            <a:noAutofit/>
          </a:bodyPr>
          <a:lstStyle/>
          <a:p>
            <a:r>
              <a:rPr lang="pl-PL" sz="2800" dirty="0"/>
              <a:t>Przesyłanie danych</a:t>
            </a:r>
          </a:p>
        </p:txBody>
      </p:sp>
      <p:sp>
        <p:nvSpPr>
          <p:cNvPr id="6" name="pole tekstowe 5"/>
          <p:cNvSpPr txBox="1"/>
          <p:nvPr/>
        </p:nvSpPr>
        <p:spPr>
          <a:xfrm>
            <a:off x="1064871" y="3495554"/>
            <a:ext cx="250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/>
          </a:p>
        </p:txBody>
      </p:sp>
      <p:sp>
        <p:nvSpPr>
          <p:cNvPr id="7" name="Podtytuł 2"/>
          <p:cNvSpPr>
            <a:spLocks noGrp="1"/>
          </p:cNvSpPr>
          <p:nvPr>
            <p:ph type="subTitle" idx="1"/>
          </p:nvPr>
        </p:nvSpPr>
        <p:spPr>
          <a:xfrm>
            <a:off x="349915" y="2411778"/>
            <a:ext cx="3933466" cy="39447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400" dirty="0">
                <a:latin typeface="Arial"/>
                <a:cs typeface="Arial"/>
              </a:rPr>
              <a:t>Połączenie protokołem SSH.</a:t>
            </a:r>
            <a:endParaRPr lang="en-US" sz="2400" dirty="0"/>
          </a:p>
          <a:p>
            <a:r>
              <a:rPr lang="pl-PL" sz="2400" dirty="0">
                <a:latin typeface="Arial"/>
                <a:cs typeface="Arial"/>
              </a:rPr>
              <a:t>Skrypt </a:t>
            </a:r>
            <a:r>
              <a:rPr lang="pl-PL" sz="2400" dirty="0" err="1">
                <a:latin typeface="Arial"/>
                <a:cs typeface="Arial"/>
              </a:rPr>
              <a:t>bash</a:t>
            </a:r>
            <a:r>
              <a:rPr lang="pl-PL" sz="2400" dirty="0">
                <a:latin typeface="Arial"/>
                <a:cs typeface="Arial"/>
              </a:rPr>
              <a:t> z protokołem synchronizacyjnym </a:t>
            </a:r>
            <a:r>
              <a:rPr lang="pl-PL" sz="2400" dirty="0" err="1">
                <a:latin typeface="Arial"/>
                <a:cs typeface="Arial"/>
              </a:rPr>
              <a:t>rsync</a:t>
            </a:r>
            <a:r>
              <a:rPr lang="pl-PL" sz="2400" dirty="0">
                <a:latin typeface="Arial"/>
                <a:cs typeface="Arial"/>
              </a:rPr>
              <a:t>. </a:t>
            </a:r>
          </a:p>
          <a:p>
            <a:r>
              <a:rPr lang="pl-PL" sz="2400" dirty="0">
                <a:latin typeface="Arial"/>
                <a:cs typeface="Arial"/>
              </a:rPr>
              <a:t>Synchronizacja między systemami (urządzenie mobilne – serwer).</a:t>
            </a:r>
          </a:p>
          <a:p>
            <a:r>
              <a:rPr lang="pl-PL" sz="2400" dirty="0">
                <a:latin typeface="Arial"/>
                <a:cs typeface="Arial"/>
              </a:rPr>
              <a:t>Usuwanie pliku po poprawnym odebraniu.</a:t>
            </a:r>
          </a:p>
          <a:p>
            <a:endParaRPr lang="pl-PL" b="0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A9099977-1506-AE18-D897-ED4306F6FA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13</a:t>
            </a:fld>
            <a:endParaRPr lang="pl-P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6D777B-7B73-0793-187A-014E83762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828" y="2836508"/>
            <a:ext cx="4784873" cy="30911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580BBE-197F-49BD-DA59-11745D90CFA6}"/>
              </a:ext>
            </a:extLst>
          </p:cNvPr>
          <p:cNvSpPr txBox="1"/>
          <p:nvPr/>
        </p:nvSpPr>
        <p:spPr>
          <a:xfrm>
            <a:off x="4710223" y="5917018"/>
            <a:ext cx="393404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1600" b="1" baseline="0">
                <a:solidFill>
                  <a:srgbClr val="003767"/>
                </a:solidFill>
                <a:latin typeface="Arial"/>
              </a:rPr>
              <a:t>Rys. </a:t>
            </a:r>
            <a:r>
              <a:rPr lang="pl-PL" sz="1600" b="1">
                <a:solidFill>
                  <a:srgbClr val="003767"/>
                </a:solidFill>
                <a:latin typeface="Arial"/>
              </a:rPr>
              <a:t>5 - Wstępny projekt skryptu</a:t>
            </a:r>
            <a:endParaRPr lang="en-US" sz="1600">
              <a:latin typeface="Arial"/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20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894082" y="627177"/>
            <a:ext cx="4210947" cy="281637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Elementy systemu</a:t>
            </a:r>
            <a:endParaRPr lang="pl-PL" sz="2400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386072" y="1614017"/>
            <a:ext cx="6865190" cy="37511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800" dirty="0">
                <a:latin typeface="Arial"/>
                <a:cs typeface="Arial"/>
              </a:rPr>
              <a:t>Serwer – przechowywanie danych</a:t>
            </a:r>
          </a:p>
        </p:txBody>
      </p:sp>
      <p:sp>
        <p:nvSpPr>
          <p:cNvPr id="5" name="AutoShape 2" descr="image.png"/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292563" y="2500946"/>
            <a:ext cx="8214158" cy="157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pl-PL" sz="2400" b="0">
                <a:latin typeface="Arial"/>
                <a:cs typeface="Arial"/>
              </a:rPr>
              <a:t>Środowisko serwerowe zostało oparte na dystrybucji </a:t>
            </a:r>
            <a:r>
              <a:rPr lang="pl-PL" sz="2400" err="1">
                <a:latin typeface="Arial"/>
                <a:cs typeface="Arial"/>
              </a:rPr>
              <a:t>Ubuntu</a:t>
            </a:r>
            <a:r>
              <a:rPr lang="pl-PL" sz="2400">
                <a:latin typeface="Arial"/>
                <a:cs typeface="Arial"/>
              </a:rPr>
              <a:t> Server</a:t>
            </a:r>
            <a:r>
              <a:rPr lang="pl-PL" sz="2400" b="0">
                <a:latin typeface="Arial"/>
                <a:cs typeface="Arial"/>
              </a:rPr>
              <a:t>, natomiast warstwę składowania danych zrealizowano przy użyciu relacyjnego systemu zarządzania bazą danych </a:t>
            </a:r>
            <a:r>
              <a:rPr lang="pl-PL" sz="2400">
                <a:latin typeface="Arial"/>
                <a:cs typeface="Arial"/>
              </a:rPr>
              <a:t>MySQL</a:t>
            </a:r>
            <a:r>
              <a:rPr lang="pl-PL" sz="2400" b="0">
                <a:latin typeface="Arial"/>
                <a:cs typeface="Arial"/>
              </a:rPr>
              <a:t>.</a:t>
            </a:r>
            <a:endParaRPr lang="pl-PL" sz="240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F514D85A-F9EC-1773-A69F-C9D8EE1A9EF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14</a:t>
            </a:fld>
            <a:endParaRPr lang="pl-PL"/>
          </a:p>
        </p:txBody>
      </p:sp>
      <p:pic>
        <p:nvPicPr>
          <p:cNvPr id="7" name="Obraz 6" descr="Obraz zawierający zrzut ekranu, diagram, tekst, linia&#10;&#10;Zawartość wygenerowana przez AI może być niepoprawna.">
            <a:extLst>
              <a:ext uri="{FF2B5EF4-FFF2-40B4-BE49-F238E27FC236}">
                <a16:creationId xmlns:a16="http://schemas.microsoft.com/office/drawing/2014/main" id="{BB3701C0-6D5D-54F2-CD28-4C9ECBC71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7" y="3911352"/>
            <a:ext cx="8606738" cy="21113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9A731C-445A-0479-A7AF-E8351643D691}"/>
              </a:ext>
            </a:extLst>
          </p:cNvPr>
          <p:cNvSpPr txBox="1"/>
          <p:nvPr/>
        </p:nvSpPr>
        <p:spPr>
          <a:xfrm>
            <a:off x="2626241" y="6225362"/>
            <a:ext cx="393404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1600" b="1" baseline="0">
                <a:solidFill>
                  <a:srgbClr val="003767"/>
                </a:solidFill>
                <a:latin typeface="Arial"/>
              </a:rPr>
              <a:t>Rys. </a:t>
            </a:r>
            <a:r>
              <a:rPr lang="pl-PL" sz="1600" b="1">
                <a:solidFill>
                  <a:srgbClr val="003767"/>
                </a:solidFill>
                <a:latin typeface="Arial"/>
              </a:rPr>
              <a:t>6 - Schemat bazy danych</a:t>
            </a:r>
            <a:endParaRPr lang="en-US" sz="1600">
              <a:latin typeface="Arial"/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09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635EA-1F24-DA97-7D61-F5DF8CD7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1999" y="464618"/>
            <a:ext cx="4253477" cy="643143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Pomiary</a:t>
            </a: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707B53-E2BF-2A08-A6D8-A9186B8A1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619" y="2825925"/>
            <a:ext cx="8155171" cy="35058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400" dirty="0">
                <a:latin typeface="Arial"/>
                <a:cs typeface="Arial"/>
              </a:rPr>
              <a:t>Realizacja pomiarów zgodna z wcześniej przyjętym scenariuszem statycznym</a:t>
            </a:r>
            <a:endParaRPr lang="en-US" sz="2400" dirty="0"/>
          </a:p>
          <a:p>
            <a:r>
              <a:rPr lang="pl-PL" sz="2400" dirty="0">
                <a:latin typeface="Arial"/>
                <a:cs typeface="Arial"/>
              </a:rPr>
              <a:t>Punkty pomiarowe rozmieszczono zgodnie z wcześniej przygotowaną mapą.</a:t>
            </a:r>
          </a:p>
          <a:p>
            <a:r>
              <a:rPr lang="pl-PL" sz="2400" dirty="0">
                <a:latin typeface="Arial"/>
                <a:cs typeface="Arial"/>
              </a:rPr>
              <a:t>Pomiary zrealizowano w środowisku wewnątrzbudynkowym, w warunkach LOS/NLOS (zależne od położenia danego </a:t>
            </a:r>
            <a:r>
              <a:rPr lang="pl-PL" sz="2400" dirty="0" err="1">
                <a:latin typeface="Arial"/>
                <a:cs typeface="Arial"/>
              </a:rPr>
              <a:t>access</a:t>
            </a:r>
            <a:r>
              <a:rPr lang="pl-PL" sz="2400" dirty="0">
                <a:latin typeface="Arial"/>
                <a:cs typeface="Arial"/>
              </a:rPr>
              <a:t> pointa).</a:t>
            </a:r>
          </a:p>
          <a:p>
            <a:r>
              <a:rPr lang="pl-PL" sz="2400" dirty="0">
                <a:latin typeface="Arial"/>
                <a:cs typeface="Arial"/>
              </a:rPr>
              <a:t>Wykorzystane urządzenie - wcześniej zrealizowane urządzenie mobile</a:t>
            </a:r>
          </a:p>
          <a:p>
            <a:endParaRPr lang="pl-PL" sz="2400" dirty="0">
              <a:latin typeface="Arial"/>
              <a:cs typeface="Arial"/>
            </a:endParaRPr>
          </a:p>
          <a:p>
            <a:endParaRPr lang="pl-PL" sz="2400" dirty="0">
              <a:latin typeface="Arial"/>
              <a:cs typeface="Arial"/>
            </a:endParaRPr>
          </a:p>
          <a:p>
            <a:endParaRPr lang="pl-PL" sz="2400" dirty="0"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4427F-F1E7-C4D2-A488-6CEF049756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0370" y="1602700"/>
            <a:ext cx="8258670" cy="4067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800" dirty="0">
                <a:latin typeface="Arial"/>
                <a:cs typeface="Arial"/>
              </a:rPr>
              <a:t>Pomiary - grudzień 2025 r.</a:t>
            </a:r>
            <a:endParaRPr lang="pl-PL" sz="2800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1B8ECE1-491E-CACE-0D5F-8811C7C67A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81257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7D06F-6698-D42E-F59D-1B75CC253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6184" y="465177"/>
            <a:ext cx="3610466" cy="559380"/>
          </a:xfrm>
        </p:spPr>
        <p:txBody>
          <a:bodyPr/>
          <a:lstStyle/>
          <a:p>
            <a:r>
              <a:rPr lang="pl-PL" sz="2400" dirty="0"/>
              <a:t>Cel i założenia projektu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13A56-1495-453F-1B89-5FEADB886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6112013"/>
            <a:ext cx="6858000" cy="461316"/>
          </a:xfrm>
        </p:spPr>
        <p:txBody>
          <a:bodyPr/>
          <a:lstStyle/>
          <a:p>
            <a:pPr marL="0" indent="0" algn="ctr">
              <a:buNone/>
            </a:pPr>
            <a:r>
              <a:rPr lang="pl-PL"/>
              <a:t>Tab. 1 – Planowany harmonogram prac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CBE08-479F-BD7A-C054-3F25B64CAE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311" y="1621767"/>
            <a:ext cx="7594436" cy="635088"/>
          </a:xfrm>
        </p:spPr>
        <p:txBody>
          <a:bodyPr>
            <a:normAutofit/>
          </a:bodyPr>
          <a:lstStyle/>
          <a:p>
            <a:r>
              <a:rPr lang="pl-PL" sz="2800" dirty="0"/>
              <a:t>Przyjęty harmonogram prac – 1 semestr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2238B0-284B-CEDD-61C6-7A86333CA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426898"/>
              </p:ext>
            </p:extLst>
          </p:nvPr>
        </p:nvGraphicFramePr>
        <p:xfrm>
          <a:off x="556404" y="2324819"/>
          <a:ext cx="8031192" cy="3618781"/>
        </p:xfrm>
        <a:graphic>
          <a:graphicData uri="http://schemas.openxmlformats.org/drawingml/2006/table">
            <a:tbl>
              <a:tblPr/>
              <a:tblGrid>
                <a:gridCol w="2761556">
                  <a:extLst>
                    <a:ext uri="{9D8B030D-6E8A-4147-A177-3AD203B41FA5}">
                      <a16:colId xmlns:a16="http://schemas.microsoft.com/office/drawing/2014/main" val="2585755769"/>
                    </a:ext>
                  </a:extLst>
                </a:gridCol>
                <a:gridCol w="2761556">
                  <a:extLst>
                    <a:ext uri="{9D8B030D-6E8A-4147-A177-3AD203B41FA5}">
                      <a16:colId xmlns:a16="http://schemas.microsoft.com/office/drawing/2014/main" val="1959983074"/>
                    </a:ext>
                  </a:extLst>
                </a:gridCol>
                <a:gridCol w="2508080">
                  <a:extLst>
                    <a:ext uri="{9D8B030D-6E8A-4147-A177-3AD203B41FA5}">
                      <a16:colId xmlns:a16="http://schemas.microsoft.com/office/drawing/2014/main" val="3015439267"/>
                    </a:ext>
                  </a:extLst>
                </a:gridCol>
              </a:tblGrid>
              <a:tr h="40652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Etap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Wykonawcy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Termin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936887"/>
                  </a:ext>
                </a:extLst>
              </a:tr>
              <a:tr h="115005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Wprowadzenie teoretyczne i praktyczne przygotowanie do realizacji projektu.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Zespół projektowy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Czas trwania projektu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292409"/>
                  </a:ext>
                </a:extLst>
              </a:tr>
              <a:tr h="61925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Przygotowania do mapowania.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Zespół projektowy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1.12.2025 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383041"/>
                  </a:ext>
                </a:extLst>
              </a:tr>
              <a:tr h="46905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Prototyp mapy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Zespół projektowy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1.01.2026 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445671"/>
                  </a:ext>
                </a:extLst>
              </a:tr>
              <a:tr h="72218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Wytworzenie dokumentacji projektowej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Zespół projektowy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25.01.2026 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189792"/>
                  </a:ext>
                </a:extLst>
              </a:tr>
            </a:tbl>
          </a:graphicData>
        </a:graphic>
      </p:graphicFrame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A3BC765-C30B-BD0F-9CE0-99AAD614C0A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4818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8F04D-8FE3-3ECF-35BA-96DC14E3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1DB1-F6BF-BCE0-49C1-90EBF7545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3175" y="642365"/>
            <a:ext cx="4210947" cy="281637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Podsumowanie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A55013-3CA1-4363-34C3-4DB8A03A7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17298"/>
            <a:ext cx="6858000" cy="281471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400" dirty="0">
                <a:latin typeface="Arial"/>
                <a:cs typeface="Arial"/>
              </a:rPr>
              <a:t>Prace nieznacznie opóźnione względem pierwotnego harmonogramu.</a:t>
            </a:r>
          </a:p>
          <a:p>
            <a:r>
              <a:rPr lang="pl-PL" sz="2400" dirty="0">
                <a:latin typeface="Arial"/>
                <a:cs typeface="Arial"/>
              </a:rPr>
              <a:t>Powód - niedoszacowanie czasu potrzebnego na naukę w ramach innych przedmiotów uczelnianych.</a:t>
            </a:r>
            <a:endParaRPr lang="pl-PL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E0117-E980-7477-EB6E-D7B53995A4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021" y="1648345"/>
            <a:ext cx="7165152" cy="3771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800" dirty="0">
                <a:latin typeface="Arial"/>
                <a:cs typeface="Arial"/>
              </a:rPr>
              <a:t>Zgodność pracy z harmonogramem</a:t>
            </a:r>
            <a:endParaRPr lang="pl-PL" sz="2800" dirty="0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903CCF1-AD00-C987-F735-40FDA480A2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2834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D5C6-399A-7CE8-BBAE-2F7430582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3401" y="625316"/>
            <a:ext cx="4210947" cy="281637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Podsumowanie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EE1B0-6463-181E-0039-E5E979DE0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17298"/>
            <a:ext cx="6858000" cy="3592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400" dirty="0">
                <a:latin typeface="Arial"/>
                <a:cs typeface="Arial"/>
              </a:rPr>
              <a:t>Urządzenie mobilne realizujące pomiary oraz funkcję urządzenia wykrywanego.</a:t>
            </a:r>
          </a:p>
          <a:p>
            <a:r>
              <a:rPr lang="pl-PL" sz="2400" dirty="0">
                <a:latin typeface="Arial"/>
                <a:cs typeface="Arial"/>
              </a:rPr>
              <a:t>Skrypt odbierający sygnały okazjonalne</a:t>
            </a:r>
          </a:p>
          <a:p>
            <a:r>
              <a:rPr lang="pl-PL" sz="2400" dirty="0">
                <a:latin typeface="Arial"/>
                <a:cs typeface="Arial"/>
              </a:rPr>
              <a:t>Rozmieszczenie punktów pomiarowych</a:t>
            </a:r>
          </a:p>
          <a:p>
            <a:r>
              <a:rPr lang="pl-PL" sz="2400" dirty="0">
                <a:latin typeface="Arial"/>
                <a:cs typeface="Arial"/>
              </a:rPr>
              <a:t>Protokół komunikacyjny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E7679-2503-1D73-E396-4F64701B8F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021" y="1623965"/>
            <a:ext cx="7474872" cy="3854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800" dirty="0">
                <a:latin typeface="Arial"/>
                <a:cs typeface="Arial"/>
              </a:rPr>
              <a:t>Zrealizowane elementy systemu: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793CAC1-C099-5CFB-DEFF-ECCE4311A0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8975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36E3-82CF-27B2-63A4-D320B697F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4546" y="639250"/>
            <a:ext cx="4210947" cy="281637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Podsumowanie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15E52E-BB4A-81CD-1732-1D1A822B1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17298"/>
            <a:ext cx="6858000" cy="281471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400" dirty="0">
                <a:latin typeface="Arial"/>
                <a:cs typeface="Arial"/>
              </a:rPr>
              <a:t>Filtracja danych zbieranych przez urządzenie mobilne</a:t>
            </a:r>
            <a:endParaRPr lang="pl-PL" sz="2400" dirty="0"/>
          </a:p>
          <a:p>
            <a:r>
              <a:rPr lang="pl-PL" sz="2400" dirty="0">
                <a:latin typeface="Arial"/>
                <a:cs typeface="Arial"/>
              </a:rPr>
              <a:t>Algorytm dopasowujący</a:t>
            </a:r>
          </a:p>
          <a:p>
            <a:r>
              <a:rPr lang="pl-PL" sz="2400" dirty="0">
                <a:latin typeface="Arial"/>
                <a:cs typeface="Arial"/>
              </a:rPr>
              <a:t>Rozwinięcie protokołu przesyłającego dane na serwer</a:t>
            </a:r>
          </a:p>
          <a:p>
            <a:r>
              <a:rPr lang="pl-PL" sz="2400" dirty="0">
                <a:latin typeface="Arial"/>
                <a:cs typeface="Arial"/>
              </a:rPr>
              <a:t>Rozwinięcie bazy danych</a:t>
            </a:r>
          </a:p>
          <a:p>
            <a:r>
              <a:rPr lang="pl-PL" sz="2400" dirty="0">
                <a:latin typeface="Arial"/>
                <a:cs typeface="Arial"/>
              </a:rPr>
              <a:t>Reprezentacja danych z serwera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029FD-8005-038B-521A-FB05C011BA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654" y="1645230"/>
            <a:ext cx="6592370" cy="3854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800" dirty="0">
                <a:latin typeface="Arial"/>
                <a:cs typeface="Arial"/>
              </a:rPr>
              <a:t>Przyszłe kierunki prac: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AC1B9BC-4142-5C3B-8168-B1CCC385BF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9114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4855647"/>
      </p:ext>
    </p:extLst>
  </p:cSld>
  <p:clrMapOvr>
    <a:masterClrMapping/>
  </p:clrMapOvr>
</p:sld>
</file>

<file path=ppt/theme/theme1.xml><?xml version="1.0" encoding="utf-8"?>
<a:theme xmlns:a="http://schemas.openxmlformats.org/drawingml/2006/main" name="PG">
  <a:themeElements>
    <a:clrScheme name="PG">
      <a:dk1>
        <a:srgbClr val="003767"/>
      </a:dk1>
      <a:lt1>
        <a:sysClr val="window" lastClr="FFFFFF"/>
      </a:lt1>
      <a:dk2>
        <a:srgbClr val="44546A"/>
      </a:dk2>
      <a:lt2>
        <a:srgbClr val="E7E6E6"/>
      </a:lt2>
      <a:accent1>
        <a:srgbClr val="E31B23"/>
      </a:accent1>
      <a:accent2>
        <a:srgbClr val="003767"/>
      </a:accent2>
      <a:accent3>
        <a:srgbClr val="B9DEFF"/>
      </a:accent3>
      <a:accent4>
        <a:srgbClr val="737577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iestandardowy 2">
      <a:majorFont>
        <a:latin typeface="SanukPro-Medium"/>
        <a:ea typeface=""/>
        <a:cs typeface=""/>
      </a:majorFont>
      <a:minorFont>
        <a:latin typeface="SanukPro-Light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ja3" id="{D0BDE39D-86B0-4351-98C7-2F0027CEB9D1}" vid="{8DEA3497-1FC6-4C77-8314-304DE8BC6512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Szablon</Template>
  <TotalTime>153</TotalTime>
  <Words>700</Words>
  <Application>Microsoft Office PowerPoint</Application>
  <PresentationFormat>Pokaz na ekranie (4:3)</PresentationFormat>
  <Paragraphs>137</Paragraphs>
  <Slides>20</Slides>
  <Notes>2</Notes>
  <HiddenSlides>0</HiddenSlides>
  <MMClips>0</MMClips>
  <ScaleCrop>false</ScaleCrop>
  <HeadingPairs>
    <vt:vector size="8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Osadzone serwery OLE</vt:lpstr>
      </vt:variant>
      <vt:variant>
        <vt:i4>1</vt:i4>
      </vt:variant>
      <vt:variant>
        <vt:lpstr>Tytuły slajdów</vt:lpstr>
      </vt:variant>
      <vt:variant>
        <vt:i4>20</vt:i4>
      </vt:variant>
    </vt:vector>
  </HeadingPairs>
  <TitlesOfParts>
    <vt:vector size="27" baseType="lpstr">
      <vt:lpstr>Arial</vt:lpstr>
      <vt:lpstr>Calibri</vt:lpstr>
      <vt:lpstr>SanukPro-Light</vt:lpstr>
      <vt:lpstr>SanukPro-Medium</vt:lpstr>
      <vt:lpstr>Wingdings</vt:lpstr>
      <vt:lpstr>PG</vt:lpstr>
      <vt:lpstr>Arkusz</vt:lpstr>
      <vt:lpstr>ID-355 Radiowy system detekcji i identyfikacji obecności użytkowników </vt:lpstr>
      <vt:lpstr>Zespół projektowy</vt:lpstr>
      <vt:lpstr>Agenda</vt:lpstr>
      <vt:lpstr>Cel i założenia projektu</vt:lpstr>
      <vt:lpstr>Cel i założenia projektu</vt:lpstr>
      <vt:lpstr>Cel i założenia projektu</vt:lpstr>
      <vt:lpstr>Cel i założenia projektu</vt:lpstr>
      <vt:lpstr>Cel i założenia projektu</vt:lpstr>
      <vt:lpstr>Cel i założenia projektu</vt:lpstr>
      <vt:lpstr>Elementy systemu</vt:lpstr>
      <vt:lpstr>Elementy systemu</vt:lpstr>
      <vt:lpstr>Elementy systemu</vt:lpstr>
      <vt:lpstr>Elementy systemu</vt:lpstr>
      <vt:lpstr>Elementy systemu</vt:lpstr>
      <vt:lpstr>Pomiary</vt:lpstr>
      <vt:lpstr>Cel i założenia projektu</vt:lpstr>
      <vt:lpstr>Podsumowanie</vt:lpstr>
      <vt:lpstr>Podsumowanie</vt:lpstr>
      <vt:lpstr>Podsumowanie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Ewa</dc:creator>
  <cp:lastModifiedBy>Mateusz Moćko, s197675</cp:lastModifiedBy>
  <cp:revision>19</cp:revision>
  <dcterms:created xsi:type="dcterms:W3CDTF">2017-05-26T10:51:07Z</dcterms:created>
  <dcterms:modified xsi:type="dcterms:W3CDTF">2026-01-25T00:27:17Z</dcterms:modified>
</cp:coreProperties>
</file>